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643" y="4384092"/>
            <a:ext cx="5760364" cy="1915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914" y="304559"/>
            <a:ext cx="6882130" cy="6516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914" y="370079"/>
            <a:ext cx="65163" cy="1001844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87044" y="304559"/>
            <a:ext cx="69837" cy="1001844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914" y="10323361"/>
            <a:ext cx="6882130" cy="651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87044" y="10323361"/>
            <a:ext cx="69837" cy="651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3863" y="1947564"/>
            <a:ext cx="5375122" cy="1108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08024" y="10115944"/>
            <a:ext cx="203834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8419">
              <a:lnSpc>
                <a:spcPts val="16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jpg"/><Relationship Id="rId9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/GSTOCK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34019" y="4752033"/>
            <a:ext cx="3822065" cy="911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8930" marR="5080" indent="-316865">
              <a:lnSpc>
                <a:spcPct val="121200"/>
              </a:lnSpc>
              <a:spcBef>
                <a:spcPts val="95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Système</a:t>
            </a:r>
            <a:r>
              <a:rPr dirty="0" sz="2400" spc="-4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Intelligent</a:t>
            </a:r>
            <a:r>
              <a:rPr dirty="0" sz="2400" spc="-3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dirty="0" sz="2400" spc="-3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0000"/>
                </a:solidFill>
                <a:latin typeface="Times New Roman"/>
                <a:cs typeface="Times New Roman"/>
              </a:rPr>
              <a:t>Gestion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dirty="0" sz="2400" spc="-2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Stock</a:t>
            </a:r>
            <a:r>
              <a:rPr dirty="0" sz="2400" spc="-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dirty="0" sz="2400" spc="-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Analyse</a:t>
            </a:r>
            <a:r>
              <a:rPr dirty="0" sz="2400" spc="-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 i="1">
                <a:solidFill>
                  <a:srgbClr val="FF0000"/>
                </a:solidFill>
                <a:latin typeface="Times New Roman"/>
                <a:cs typeface="Times New Roman"/>
              </a:rPr>
              <a:t>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7260" marR="5080" indent="-908685">
              <a:lnSpc>
                <a:spcPct val="136600"/>
              </a:lnSpc>
              <a:spcBef>
                <a:spcPts val="95"/>
              </a:spcBef>
            </a:pPr>
            <a:r>
              <a:rPr dirty="0"/>
              <a:t>Rapport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Projet de</a:t>
            </a:r>
            <a:r>
              <a:rPr dirty="0" spc="-10"/>
              <a:t> </a:t>
            </a:r>
            <a:r>
              <a:rPr dirty="0"/>
              <a:t>Fin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Module</a:t>
            </a:r>
            <a:r>
              <a:rPr dirty="0" spc="-5"/>
              <a:t> </a:t>
            </a:r>
            <a:r>
              <a:rPr dirty="0" spc="-50"/>
              <a:t>: </a:t>
            </a:r>
            <a:r>
              <a:rPr dirty="0"/>
              <a:t>PHP</a:t>
            </a:r>
            <a:r>
              <a:rPr dirty="0" spc="-10"/>
              <a:t> </a:t>
            </a:r>
            <a:r>
              <a:rPr dirty="0"/>
              <a:t>HTML </a:t>
            </a:r>
            <a:r>
              <a:rPr dirty="0" spc="-10"/>
              <a:t>&amp;MYSQL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403614" y="8159306"/>
            <a:ext cx="2747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AFEF"/>
                </a:solidFill>
                <a:latin typeface="Times New Roman"/>
                <a:cs typeface="Times New Roman"/>
              </a:rPr>
              <a:t>Année</a:t>
            </a:r>
            <a:r>
              <a:rPr dirty="0" sz="1600" spc="-3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00AFEF"/>
                </a:solidFill>
                <a:latin typeface="Times New Roman"/>
                <a:cs typeface="Times New Roman"/>
              </a:rPr>
              <a:t>Universitaire</a:t>
            </a:r>
            <a:r>
              <a:rPr dirty="0" sz="1600" spc="-2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00AFEF"/>
                </a:solidFill>
                <a:latin typeface="Times New Roman"/>
                <a:cs typeface="Times New Roman"/>
              </a:rPr>
              <a:t>:2025/2026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55344" y="6997586"/>
            <a:ext cx="1852295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Réaliser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par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83515">
              <a:lnSpc>
                <a:spcPts val="2110"/>
              </a:lnSpc>
            </a:pPr>
            <a:r>
              <a:rPr dirty="0" sz="1800">
                <a:latin typeface="Times New Roman"/>
                <a:cs typeface="Times New Roman"/>
              </a:rPr>
              <a:t>Doha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DENNAYE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2821" y="6997586"/>
            <a:ext cx="2485390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Encadré</a:t>
            </a:r>
            <a:r>
              <a:rPr dirty="0" sz="1800" spc="-10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par:</a:t>
            </a:r>
            <a:endParaRPr sz="1800">
              <a:latin typeface="Times New Roman"/>
              <a:cs typeface="Times New Roman"/>
            </a:endParaRPr>
          </a:p>
          <a:p>
            <a:pPr marL="268605">
              <a:lnSpc>
                <a:spcPts val="2110"/>
              </a:lnSpc>
            </a:pPr>
            <a:r>
              <a:rPr dirty="0" sz="1800">
                <a:latin typeface="Times New Roman"/>
                <a:cs typeface="Times New Roman"/>
              </a:rPr>
              <a:t>Pr.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10">
                <a:latin typeface="Times New Roman"/>
                <a:cs typeface="Times New Roman"/>
              </a:rPr>
              <a:t>AyoubABDELLAOUI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3642" y="7024675"/>
            <a:ext cx="65163" cy="80892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830" y="509402"/>
              <a:ext cx="4015463" cy="152388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12474" y="359639"/>
              <a:ext cx="2287435" cy="17143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9424" y="873266"/>
            <a:ext cx="6049010" cy="7171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3655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AFEF"/>
                </a:solidFill>
                <a:latin typeface="Times New Roman"/>
                <a:cs typeface="Times New Roman"/>
              </a:rPr>
              <a:t>Remerciements</a:t>
            </a:r>
            <a:endParaRPr sz="1800">
              <a:latin typeface="Times New Roman"/>
              <a:cs typeface="Times New Roman"/>
            </a:endParaRPr>
          </a:p>
          <a:p>
            <a:pPr marL="208915" marR="367665" indent="-196850">
              <a:lnSpc>
                <a:spcPct val="191500"/>
              </a:lnSpc>
              <a:spcBef>
                <a:spcPts val="180"/>
              </a:spcBef>
            </a:pPr>
            <a:r>
              <a:rPr dirty="0" sz="1200">
                <a:latin typeface="Times New Roman"/>
                <a:cs typeface="Times New Roman"/>
              </a:rPr>
              <a:t>Avant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remercions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Dieu,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soutenus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25">
                <a:latin typeface="Times New Roman"/>
                <a:cs typeface="Times New Roman"/>
              </a:rPr>
              <a:t> au </a:t>
            </a:r>
            <a:r>
              <a:rPr dirty="0" sz="1200">
                <a:latin typeface="Times New Roman"/>
                <a:cs typeface="Times New Roman"/>
              </a:rPr>
              <a:t>long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d’études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académique.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286385" marR="382905" indent="-257810">
              <a:lnSpc>
                <a:spcPct val="1917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souhaitons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exprimer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remerciements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sincères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personnes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ont </a:t>
            </a:r>
            <a:r>
              <a:rPr dirty="0" sz="1200">
                <a:latin typeface="Times New Roman"/>
                <a:cs typeface="Times New Roman"/>
              </a:rPr>
              <a:t>contribué,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près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loin,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réussite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cette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formation</a:t>
            </a:r>
            <a:endParaRPr sz="1200">
              <a:latin typeface="Times New Roman"/>
              <a:cs typeface="Times New Roman"/>
            </a:endParaRPr>
          </a:p>
          <a:p>
            <a:pPr marL="2432685">
              <a:lnSpc>
                <a:spcPct val="100000"/>
              </a:lnSpc>
              <a:spcBef>
                <a:spcPts val="1320"/>
              </a:spcBef>
            </a:pPr>
            <a:r>
              <a:rPr dirty="0" sz="1200" spc="-10">
                <a:latin typeface="Times New Roman"/>
                <a:cs typeface="Times New Roman"/>
              </a:rPr>
              <a:t>enrichissante.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30480" marR="5080" indent="-3175">
              <a:lnSpc>
                <a:spcPct val="191700"/>
              </a:lnSpc>
            </a:pPr>
            <a:r>
              <a:rPr dirty="0" sz="1200">
                <a:latin typeface="Times New Roman"/>
                <a:cs typeface="Times New Roman"/>
              </a:rPr>
              <a:t>Nos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premiers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remerciements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s’adressent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corps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professoral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administratif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L'École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Nationale Supérieure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d'Arts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Métiers.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enseignement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qualité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dévouement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constant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offrir</a:t>
            </a:r>
            <a:endParaRPr sz="1200">
              <a:latin typeface="Times New Roman"/>
              <a:cs typeface="Times New Roman"/>
            </a:endParaRPr>
          </a:p>
          <a:p>
            <a:pPr algn="ctr" marR="351790">
              <a:lnSpc>
                <a:spcPct val="100000"/>
              </a:lnSpc>
              <a:spcBef>
                <a:spcPts val="1320"/>
              </a:spcBef>
            </a:pP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formation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actualisée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piliers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essentiels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réussite.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62865" marR="416559" indent="41910">
              <a:lnSpc>
                <a:spcPct val="1916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adressons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10">
                <a:latin typeface="Times New Roman"/>
                <a:cs typeface="Times New Roman"/>
              </a:rPr>
              <a:t> gratitude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particulière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M.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65" b="1">
                <a:latin typeface="Times New Roman"/>
                <a:cs typeface="Times New Roman"/>
              </a:rPr>
              <a:t>Ayoub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70" b="1">
                <a:latin typeface="Times New Roman"/>
                <a:cs typeface="Times New Roman"/>
              </a:rPr>
              <a:t>ABDELLAOUI</a:t>
            </a:r>
            <a:r>
              <a:rPr dirty="0" sz="1200" spc="-70">
                <a:latin typeface="Times New Roman"/>
                <a:cs typeface="Times New Roman"/>
              </a:rPr>
              <a:t>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notre</a:t>
            </a:r>
            <a:r>
              <a:rPr dirty="0" sz="1200" spc="-10">
                <a:latin typeface="Times New Roman"/>
                <a:cs typeface="Times New Roman"/>
              </a:rPr>
              <a:t> encadrant,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inestimable,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conseils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avisés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accompagnement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ce </a:t>
            </a:r>
            <a:r>
              <a:rPr dirty="0" sz="1200">
                <a:latin typeface="Times New Roman"/>
                <a:cs typeface="Times New Roman"/>
              </a:rPr>
              <a:t>projet.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précieuses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recommandations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déterminantes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l’aboutissement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ce</a:t>
            </a:r>
            <a:endParaRPr sz="1200">
              <a:latin typeface="Times New Roman"/>
              <a:cs typeface="Times New Roman"/>
            </a:endParaRPr>
          </a:p>
          <a:p>
            <a:pPr marL="2637155">
              <a:lnSpc>
                <a:spcPct val="100000"/>
              </a:lnSpc>
              <a:spcBef>
                <a:spcPts val="1320"/>
              </a:spcBef>
            </a:pPr>
            <a:r>
              <a:rPr dirty="0" sz="1200" spc="-10">
                <a:latin typeface="Times New Roman"/>
                <a:cs typeface="Times New Roman"/>
              </a:rPr>
              <a:t>travail.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35560" marR="389255">
              <a:lnSpc>
                <a:spcPct val="191700"/>
              </a:lnSpc>
            </a:pPr>
            <a:r>
              <a:rPr dirty="0" sz="1200">
                <a:latin typeface="Times New Roman"/>
                <a:cs typeface="Times New Roman"/>
              </a:rPr>
              <a:t>Enfin,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pensées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reconnaissantes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amour,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moral</a:t>
            </a:r>
            <a:r>
              <a:rPr dirty="0" sz="1200" spc="-25">
                <a:latin typeface="Times New Roman"/>
                <a:cs typeface="Times New Roman"/>
              </a:rPr>
              <a:t> et </a:t>
            </a:r>
            <a:r>
              <a:rPr dirty="0" sz="1200" spc="-10">
                <a:latin typeface="Times New Roman"/>
                <a:cs typeface="Times New Roman"/>
              </a:rPr>
              <a:t>financier,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ainsi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patience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inébranlable.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présence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constante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 </a:t>
            </a:r>
            <a:r>
              <a:rPr dirty="0" sz="1200" spc="-10">
                <a:latin typeface="Times New Roman"/>
                <a:cs typeface="Times New Roman"/>
              </a:rPr>
              <a:t>motivation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0">
                <a:latin typeface="Times New Roman"/>
                <a:cs typeface="Times New Roman"/>
              </a:rPr>
              <a:t> sérénité.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114300" marR="467359">
              <a:lnSpc>
                <a:spcPct val="191900"/>
              </a:lnSpc>
            </a:pP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somme,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10">
                <a:latin typeface="Times New Roman"/>
                <a:cs typeface="Times New Roman"/>
              </a:rPr>
              <a:t> remercions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chaleureusement </a:t>
            </a:r>
            <a:r>
              <a:rPr dirty="0" sz="1200">
                <a:latin typeface="Times New Roman"/>
                <a:cs typeface="Times New Roman"/>
              </a:rPr>
              <a:t>tous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ceux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10">
                <a:latin typeface="Times New Roman"/>
                <a:cs typeface="Times New Roman"/>
              </a:rPr>
              <a:t> contribué, directement </a:t>
            </a:r>
            <a:r>
              <a:rPr dirty="0" sz="1200" spc="-25">
                <a:latin typeface="Times New Roman"/>
                <a:cs typeface="Times New Roman"/>
              </a:rPr>
              <a:t>ou </a:t>
            </a:r>
            <a:r>
              <a:rPr dirty="0" sz="1200" spc="-10">
                <a:latin typeface="Times New Roman"/>
                <a:cs typeface="Times New Roman"/>
              </a:rPr>
              <a:t>indirectement,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réalisation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cette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étape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importante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parcours.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21854" y="873266"/>
            <a:ext cx="5705475" cy="8573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AFEF"/>
                </a:solidFill>
                <a:latin typeface="Times New Roman"/>
                <a:cs typeface="Times New Roman"/>
              </a:rPr>
              <a:t>Dédicace</a:t>
            </a:r>
            <a:endParaRPr sz="1800">
              <a:latin typeface="Times New Roman"/>
              <a:cs typeface="Times New Roman"/>
            </a:endParaRPr>
          </a:p>
          <a:p>
            <a:pPr algn="ctr" marL="8890">
              <a:lnSpc>
                <a:spcPct val="100000"/>
              </a:lnSpc>
              <a:spcBef>
                <a:spcPts val="1495"/>
              </a:spcBef>
            </a:pPr>
            <a:r>
              <a:rPr dirty="0" sz="1200" b="1">
                <a:latin typeface="Times New Roman"/>
                <a:cs typeface="Times New Roman"/>
              </a:rPr>
              <a:t>À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parents,</a:t>
            </a:r>
            <a:endParaRPr sz="1200">
              <a:latin typeface="Times New Roman"/>
              <a:cs typeface="Times New Roman"/>
            </a:endParaRPr>
          </a:p>
          <a:p>
            <a:pPr algn="ctr" marL="29209" marR="26670" indent="3175">
              <a:lnSpc>
                <a:spcPts val="2760"/>
              </a:lnSpc>
              <a:spcBef>
                <a:spcPts val="310"/>
              </a:spcBef>
            </a:pPr>
            <a:r>
              <a:rPr dirty="0" sz="1200">
                <a:latin typeface="Times New Roman"/>
                <a:cs typeface="Times New Roman"/>
              </a:rPr>
              <a:t>Vous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êtes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boussole,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indéfectible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refuge.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amour,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conseils, </a:t>
            </a:r>
            <a:r>
              <a:rPr dirty="0" sz="1200">
                <a:latin typeface="Times New Roman"/>
                <a:cs typeface="Times New Roman"/>
              </a:rPr>
              <a:t>vos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sacrifices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financier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m'ont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poursuivre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études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dans</a:t>
            </a:r>
            <a:endParaRPr sz="1200">
              <a:latin typeface="Times New Roman"/>
              <a:cs typeface="Times New Roman"/>
            </a:endParaRPr>
          </a:p>
          <a:p>
            <a:pPr algn="ctr" marL="85725" marR="80645" indent="-1905">
              <a:lnSpc>
                <a:spcPts val="276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conditions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optimales.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Aucune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dédicace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pourrait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refléter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l’étendue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ma </a:t>
            </a:r>
            <a:r>
              <a:rPr dirty="0" sz="1200" spc="-10">
                <a:latin typeface="Times New Roman"/>
                <a:cs typeface="Times New Roman"/>
              </a:rPr>
              <a:t>reconnaissance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vous.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Dieu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accorde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longue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vous</a:t>
            </a:r>
            <a:endParaRPr sz="12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1005"/>
              </a:spcBef>
            </a:pPr>
            <a:r>
              <a:rPr dirty="0" sz="1200">
                <a:latin typeface="Times New Roman"/>
                <a:cs typeface="Times New Roman"/>
              </a:rPr>
              <a:t>comble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bénédictions.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76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Times New Roman"/>
                <a:cs typeface="Times New Roman"/>
              </a:rPr>
              <a:t>À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frères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sœurs,</a:t>
            </a:r>
            <a:endParaRPr sz="1200">
              <a:latin typeface="Times New Roman"/>
              <a:cs typeface="Times New Roman"/>
            </a:endParaRPr>
          </a:p>
          <a:p>
            <a:pPr algn="ctr" marL="143510" marR="138430">
              <a:lnSpc>
                <a:spcPct val="191500"/>
              </a:lnSpc>
            </a:pP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encouragements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bienveillance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constante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 </a:t>
            </a:r>
            <a:r>
              <a:rPr dirty="0" sz="1200" spc="-10">
                <a:latin typeface="Times New Roman"/>
                <a:cs typeface="Times New Roman"/>
              </a:rPr>
              <a:t>motivation.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vous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dédie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affection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gratitude.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À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toute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ma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famille,</a:t>
            </a:r>
            <a:endParaRPr sz="1200">
              <a:latin typeface="Times New Roman"/>
              <a:cs typeface="Times New Roman"/>
            </a:endParaRPr>
          </a:p>
          <a:p>
            <a:pPr algn="ctr" marL="43180" marR="34925">
              <a:lnSpc>
                <a:spcPct val="191700"/>
              </a:lnSpc>
            </a:pP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10">
                <a:latin typeface="Times New Roman"/>
                <a:cs typeface="Times New Roman"/>
              </a:rPr>
              <a:t> présence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vos</a:t>
            </a:r>
            <a:r>
              <a:rPr dirty="0" sz="1200" spc="-10">
                <a:latin typeface="Times New Roman"/>
                <a:cs typeface="Times New Roman"/>
              </a:rPr>
              <a:t> encouragements,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avoir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créé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</a:t>
            </a:r>
            <a:r>
              <a:rPr dirty="0" sz="1200" spc="-10">
                <a:latin typeface="Times New Roman"/>
                <a:cs typeface="Times New Roman"/>
              </a:rPr>
              <a:t> environnement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chaleureux </a:t>
            </a:r>
            <a:r>
              <a:rPr dirty="0" sz="1200" spc="-25">
                <a:latin typeface="Times New Roman"/>
                <a:cs typeface="Times New Roman"/>
              </a:rPr>
              <a:t>et </a:t>
            </a:r>
            <a:r>
              <a:rPr dirty="0" sz="1200">
                <a:latin typeface="Times New Roman"/>
                <a:cs typeface="Times New Roman"/>
              </a:rPr>
              <a:t>propice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réussite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générosité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joie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vivre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grandement </a:t>
            </a:r>
            <a:r>
              <a:rPr dirty="0" sz="1200">
                <a:latin typeface="Times New Roman"/>
                <a:cs typeface="Times New Roman"/>
              </a:rPr>
              <a:t>facilité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travail.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238061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À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ami(e)s,</a:t>
            </a:r>
            <a:endParaRPr sz="1200">
              <a:latin typeface="Times New Roman"/>
              <a:cs typeface="Times New Roman"/>
            </a:endParaRPr>
          </a:p>
          <a:p>
            <a:pPr marL="1062355" marR="483870" indent="-694690">
              <a:lnSpc>
                <a:spcPts val="2810"/>
              </a:lnSpc>
              <a:spcBef>
                <a:spcPts val="215"/>
              </a:spcBef>
            </a:pP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m'ont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soutenu,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encouragé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accompagné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cette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aventure.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Merci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amitié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précieuse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confiance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indéfectible.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889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À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encadrants,</a:t>
            </a:r>
            <a:endParaRPr sz="1200">
              <a:latin typeface="Times New Roman"/>
              <a:cs typeface="Times New Roman"/>
            </a:endParaRPr>
          </a:p>
          <a:p>
            <a:pPr algn="ctr" marL="46990" marR="43180">
              <a:lnSpc>
                <a:spcPct val="191500"/>
              </a:lnSpc>
              <a:spcBef>
                <a:spcPts val="10"/>
              </a:spcBef>
            </a:pP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disponibilité,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conseils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pertinents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accompagnement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ce </a:t>
            </a:r>
            <a:r>
              <a:rPr dirty="0" sz="1200">
                <a:latin typeface="Times New Roman"/>
                <a:cs typeface="Times New Roman"/>
              </a:rPr>
              <a:t>projet.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Votre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véritable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d’inspiration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motivation.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12065" marR="5080">
              <a:lnSpc>
                <a:spcPct val="191700"/>
              </a:lnSpc>
            </a:pP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dédié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amour,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amitié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soutien,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contribué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à </a:t>
            </a:r>
            <a:r>
              <a:rPr dirty="0" sz="1200">
                <a:latin typeface="Times New Roman"/>
                <a:cs typeface="Times New Roman"/>
              </a:rPr>
              <a:t>ma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réussite.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97174" y="873266"/>
            <a:ext cx="1763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AFEF"/>
                </a:solidFill>
                <a:latin typeface="Times New Roman"/>
                <a:cs typeface="Times New Roman"/>
              </a:rPr>
              <a:t>Table</a:t>
            </a:r>
            <a:r>
              <a:rPr dirty="0" sz="1800" spc="-2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AFEF"/>
                </a:solidFill>
                <a:latin typeface="Times New Roman"/>
                <a:cs typeface="Times New Roman"/>
              </a:rPr>
              <a:t>de</a:t>
            </a:r>
            <a:r>
              <a:rPr dirty="0" sz="1800" spc="-1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00AFEF"/>
                </a:solidFill>
                <a:latin typeface="Times New Roman"/>
                <a:cs typeface="Times New Roman"/>
              </a:rPr>
              <a:t>matières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86942" y="1510324"/>
            <a:ext cx="5901690" cy="81108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r" marR="97790">
              <a:lnSpc>
                <a:spcPct val="100000"/>
              </a:lnSpc>
              <a:spcBef>
                <a:spcPts val="650"/>
              </a:spcBef>
            </a:pP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Cahier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charges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</a:t>
            </a:r>
            <a:r>
              <a:rPr dirty="0" sz="12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L="304165" marR="88900" indent="-304165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304165" algn="l"/>
              </a:tabLst>
            </a:pPr>
            <a:r>
              <a:rPr dirty="0" sz="1200" spc="-10">
                <a:latin typeface="Times New Roman"/>
                <a:cs typeface="Times New Roman"/>
              </a:rPr>
              <a:t>Présentation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R="122555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Contexte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L="304165" marR="114300" indent="-304165">
              <a:lnSpc>
                <a:spcPct val="100000"/>
              </a:lnSpc>
              <a:spcBef>
                <a:spcPts val="545"/>
              </a:spcBef>
              <a:buAutoNum type="arabicPeriod" startAt="2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Objectifs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R="9906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...............................................................................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L="304165" marR="125730" indent="-304165">
              <a:lnSpc>
                <a:spcPct val="100000"/>
              </a:lnSpc>
              <a:spcBef>
                <a:spcPts val="550"/>
              </a:spcBef>
              <a:buAutoNum type="arabicPeriod" startAt="3"/>
              <a:tabLst>
                <a:tab pos="304165" algn="l"/>
              </a:tabLst>
            </a:pPr>
            <a:r>
              <a:rPr dirty="0" sz="1200" spc="-10">
                <a:latin typeface="Times New Roman"/>
                <a:cs typeface="Times New Roman"/>
              </a:rPr>
              <a:t>Description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l'Existant.....................................................................................................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R="112395">
              <a:lnSpc>
                <a:spcPct val="100000"/>
              </a:lnSpc>
              <a:spcBef>
                <a:spcPts val="555"/>
              </a:spcBef>
            </a:pPr>
            <a:r>
              <a:rPr dirty="0" sz="1200" spc="-10">
                <a:latin typeface="Times New Roman"/>
                <a:cs typeface="Times New Roman"/>
              </a:rPr>
              <a:t>Critères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d'Acceptabilité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algn="r" marL="304165" marR="109855" indent="-304165">
              <a:lnSpc>
                <a:spcPct val="100000"/>
              </a:lnSpc>
              <a:spcBef>
                <a:spcPts val="540"/>
              </a:spcBef>
              <a:buAutoNum type="arabicPeriod" startAt="4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Expression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Besoins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R="8890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Besoins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Fonctionnels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</a:t>
            </a:r>
            <a:r>
              <a:rPr dirty="0" sz="1200" spc="3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R="9334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Besoins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Non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Fonctionnels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L="304165" marR="121920" indent="-304165">
              <a:lnSpc>
                <a:spcPct val="100000"/>
              </a:lnSpc>
              <a:spcBef>
                <a:spcPts val="555"/>
              </a:spcBef>
              <a:buAutoNum type="arabicPeriod" startAt="5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Contraintes</a:t>
            </a:r>
            <a:r>
              <a:rPr dirty="0" sz="1200" spc="10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R="88265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latin typeface="Times New Roman"/>
                <a:cs typeface="Times New Roman"/>
              </a:rPr>
              <a:t>Coûts</a:t>
            </a:r>
            <a:r>
              <a:rPr dirty="0" sz="1200" spc="15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</a:t>
            </a:r>
            <a:r>
              <a:rPr dirty="0" sz="1200" spc="155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R="10604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Contraintes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Techniques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r" marL="304165" marR="122555" indent="-304165">
              <a:lnSpc>
                <a:spcPct val="100000"/>
              </a:lnSpc>
              <a:spcBef>
                <a:spcPts val="550"/>
              </a:spcBef>
              <a:buAutoNum type="arabicPeriod" startAt="6"/>
              <a:tabLst>
                <a:tab pos="304165" algn="l"/>
              </a:tabLst>
            </a:pPr>
            <a:r>
              <a:rPr dirty="0" sz="1200" spc="-10">
                <a:latin typeface="Times New Roman"/>
                <a:cs typeface="Times New Roman"/>
              </a:rPr>
              <a:t>Déroulement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r" marR="122555">
              <a:lnSpc>
                <a:spcPct val="100000"/>
              </a:lnSpc>
              <a:spcBef>
                <a:spcPts val="550"/>
              </a:spcBef>
            </a:pPr>
            <a:r>
              <a:rPr dirty="0" sz="1200" spc="-10">
                <a:latin typeface="Times New Roman"/>
                <a:cs typeface="Times New Roman"/>
              </a:rPr>
              <a:t>Planification</a:t>
            </a:r>
            <a:r>
              <a:rPr dirty="0" sz="1200" spc="13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</a:t>
            </a:r>
            <a:r>
              <a:rPr dirty="0" sz="1200" spc="140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r" marR="114300">
              <a:lnSpc>
                <a:spcPct val="100000"/>
              </a:lnSpc>
              <a:spcBef>
                <a:spcPts val="545"/>
              </a:spcBef>
            </a:pPr>
            <a:r>
              <a:rPr dirty="0" sz="1200" spc="-10">
                <a:latin typeface="Times New Roman"/>
                <a:cs typeface="Times New Roman"/>
              </a:rPr>
              <a:t>Documentation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r" marL="304165" marR="80645" indent="-304165">
              <a:lnSpc>
                <a:spcPct val="100000"/>
              </a:lnSpc>
              <a:spcBef>
                <a:spcPts val="550"/>
              </a:spcBef>
              <a:buAutoNum type="arabicPeriod" startAt="7"/>
              <a:tabLst>
                <a:tab pos="304165" algn="l"/>
              </a:tabLst>
            </a:pPr>
            <a:r>
              <a:rPr dirty="0" sz="1200" spc="-10">
                <a:latin typeface="Times New Roman"/>
                <a:cs typeface="Times New Roman"/>
              </a:rPr>
              <a:t>Technologies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Utilisées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05410">
              <a:lnSpc>
                <a:spcPct val="100000"/>
              </a:lnSpc>
              <a:spcBef>
                <a:spcPts val="555"/>
              </a:spcBef>
            </a:pPr>
            <a:r>
              <a:rPr dirty="0" sz="1200" spc="-10">
                <a:latin typeface="Times New Roman"/>
                <a:cs typeface="Times New Roman"/>
              </a:rPr>
              <a:t>Front-</a:t>
            </a:r>
            <a:r>
              <a:rPr dirty="0" sz="1200">
                <a:latin typeface="Times New Roman"/>
                <a:cs typeface="Times New Roman"/>
              </a:rPr>
              <a:t>end</a:t>
            </a:r>
            <a:r>
              <a:rPr dirty="0" sz="1200" spc="3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8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</a:t>
            </a:r>
            <a:r>
              <a:rPr dirty="0" sz="1200" spc="38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21920">
              <a:lnSpc>
                <a:spcPct val="100000"/>
              </a:lnSpc>
              <a:spcBef>
                <a:spcPts val="550"/>
              </a:spcBef>
            </a:pPr>
            <a:r>
              <a:rPr dirty="0" sz="1200" spc="-10">
                <a:latin typeface="Times New Roman"/>
                <a:cs typeface="Times New Roman"/>
              </a:rPr>
              <a:t>Back-</a:t>
            </a:r>
            <a:r>
              <a:rPr dirty="0" sz="1200">
                <a:latin typeface="Times New Roman"/>
                <a:cs typeface="Times New Roman"/>
              </a:rPr>
              <a:t>end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1430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18745">
              <a:lnSpc>
                <a:spcPct val="100000"/>
              </a:lnSpc>
              <a:spcBef>
                <a:spcPts val="545"/>
              </a:spcBef>
            </a:pPr>
            <a:r>
              <a:rPr dirty="0" sz="1200">
                <a:latin typeface="Times New Roman"/>
                <a:cs typeface="Times New Roman"/>
              </a:rPr>
              <a:t>Outils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Supplémentaires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06680">
              <a:lnSpc>
                <a:spcPct val="100000"/>
              </a:lnSpc>
              <a:spcBef>
                <a:spcPts val="550"/>
              </a:spcBef>
            </a:pP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Conception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outils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utilisés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..............................................................................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algn="r" marL="304165" marR="92710" indent="-304165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diagrammes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UML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algn="just" marL="164465" marR="97155">
              <a:lnSpc>
                <a:spcPct val="138000"/>
              </a:lnSpc>
              <a:spcBef>
                <a:spcPts val="5"/>
              </a:spcBef>
            </a:pP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Classe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5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d’Utilisation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(Use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Case)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6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d’Activité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  <a:p>
            <a:pPr algn="just" marL="164465">
              <a:lnSpc>
                <a:spcPct val="100000"/>
              </a:lnSpc>
              <a:spcBef>
                <a:spcPts val="555"/>
              </a:spcBef>
            </a:pPr>
            <a:r>
              <a:rPr dirty="0" sz="1200" spc="-10">
                <a:latin typeface="Times New Roman"/>
                <a:cs typeface="Times New Roman"/>
              </a:rPr>
              <a:t>Diagrammes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Séquence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8,9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0"/>
              </a:spcBef>
              <a:buAutoNum type="arabicPeriod" startAt="2"/>
              <a:tabLst>
                <a:tab pos="316865" algn="l"/>
              </a:tabLst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Outils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Utilisés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Développement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Backend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......................................................................................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11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316865" algn="l"/>
              </a:tabLst>
            </a:pPr>
            <a:r>
              <a:rPr dirty="0" sz="1200" spc="-10">
                <a:latin typeface="Times New Roman"/>
                <a:cs typeface="Times New Roman"/>
              </a:rPr>
              <a:t>Introduction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316865" algn="l"/>
              </a:tabLst>
            </a:pPr>
            <a:r>
              <a:rPr dirty="0" sz="1200" spc="-10">
                <a:latin typeface="Times New Roman"/>
                <a:cs typeface="Times New Roman"/>
              </a:rPr>
              <a:t>Initialisation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Création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8678281"/>
            <a:ext cx="5796280" cy="52895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Tests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Suivi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Projet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</a:t>
            </a:r>
            <a:r>
              <a:rPr dirty="0" sz="12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16865" algn="l"/>
              </a:tabLst>
            </a:pPr>
            <a:r>
              <a:rPr dirty="0" sz="1200" spc="-25">
                <a:latin typeface="Times New Roman"/>
                <a:cs typeface="Times New Roman"/>
              </a:rPr>
              <a:t>1.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Introduction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825804" y="1286768"/>
            <a:ext cx="6145530" cy="205295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47345" indent="-296545">
              <a:lnSpc>
                <a:spcPct val="100000"/>
              </a:lnSpc>
              <a:spcBef>
                <a:spcPts val="525"/>
              </a:spcBef>
              <a:buAutoNum type="arabicPeriod" startAt="3"/>
              <a:tabLst>
                <a:tab pos="347345" algn="l"/>
              </a:tabLst>
            </a:pPr>
            <a:r>
              <a:rPr dirty="0" sz="1200" spc="-10">
                <a:latin typeface="Times New Roman"/>
                <a:cs typeface="Times New Roman"/>
              </a:rPr>
              <a:t>Architecture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  <a:p>
            <a:pPr marL="355600" indent="-304800">
              <a:lnSpc>
                <a:spcPct val="100000"/>
              </a:lnSpc>
              <a:spcBef>
                <a:spcPts val="430"/>
              </a:spcBef>
              <a:buAutoNum type="arabicPeriod" startAt="3"/>
              <a:tabLst>
                <a:tab pos="355600" algn="l"/>
              </a:tabLst>
            </a:pP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  <a:p>
            <a:pPr marL="355600" indent="-304800">
              <a:lnSpc>
                <a:spcPct val="100000"/>
              </a:lnSpc>
              <a:spcBef>
                <a:spcPts val="550"/>
              </a:spcBef>
              <a:buAutoNum type="arabicPeriod" startAt="3"/>
              <a:tabLst>
                <a:tab pos="355600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</a:t>
            </a:r>
            <a:r>
              <a:rPr dirty="0" sz="1200" spc="-25">
                <a:latin typeface="Times New Roman"/>
                <a:cs typeface="Times New Roman"/>
              </a:rPr>
              <a:t> 13</a:t>
            </a:r>
            <a:endParaRPr sz="1200">
              <a:latin typeface="Times New Roman"/>
              <a:cs typeface="Times New Roman"/>
            </a:endParaRPr>
          </a:p>
          <a:p>
            <a:pPr algn="r" marL="304165" marR="315595" indent="-304165">
              <a:lnSpc>
                <a:spcPct val="100000"/>
              </a:lnSpc>
              <a:spcBef>
                <a:spcPts val="925"/>
              </a:spcBef>
              <a:buAutoNum type="arabicPeriod" startAt="3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Connexion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.....................................................................................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  <a:p>
            <a:pPr algn="r" marR="291465">
              <a:lnSpc>
                <a:spcPct val="100000"/>
              </a:lnSpc>
              <a:spcBef>
                <a:spcPts val="550"/>
              </a:spcBef>
            </a:pPr>
            <a:r>
              <a:rPr dirty="0" sz="1200" spc="-10">
                <a:latin typeface="Times New Roman"/>
                <a:cs typeface="Times New Roman"/>
              </a:rPr>
              <a:t>Technologie</a:t>
            </a:r>
            <a:r>
              <a:rPr dirty="0" sz="1200" spc="3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Utilisée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</a:t>
            </a:r>
            <a:r>
              <a:rPr dirty="0" sz="1200" spc="3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217804" indent="-174625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217804" algn="l"/>
              </a:tabLst>
            </a:pPr>
            <a:r>
              <a:rPr dirty="0" sz="1200" spc="-10">
                <a:latin typeface="Times New Roman"/>
                <a:cs typeface="Times New Roman"/>
              </a:rPr>
              <a:t>Intégration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l’Analyse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Intelligente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AutoNum type="arabicPeriod" startAt="7"/>
            </a:pPr>
            <a:endParaRPr sz="1200">
              <a:latin typeface="Times New Roman"/>
              <a:cs typeface="Times New Roman"/>
            </a:endParaRPr>
          </a:p>
          <a:p>
            <a:pPr algn="r" marL="304165" marR="298450" indent="-304165">
              <a:lnSpc>
                <a:spcPct val="100000"/>
              </a:lnSpc>
              <a:buAutoNum type="arabicPeriod" startAt="7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Conclusion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2069049"/>
            <a:ext cx="5821680" cy="6595109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 startAt="3"/>
              <a:tabLst>
                <a:tab pos="3168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GitHub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Branches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Processus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............................................................................................…14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dirty="0" sz="1200" spc="-10">
                <a:latin typeface="Times New Roman"/>
                <a:cs typeface="Times New Roman"/>
              </a:rPr>
              <a:t>Exemples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Dépôt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40"/>
              </a:spcBef>
            </a:pPr>
            <a:r>
              <a:rPr dirty="0" sz="1200" spc="-10">
                <a:latin typeface="Times New Roman"/>
                <a:cs typeface="Times New Roman"/>
              </a:rPr>
              <a:t>Intégration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GitHub</a:t>
            </a:r>
            <a:r>
              <a:rPr dirty="0" sz="1200" spc="3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</a:t>
            </a:r>
            <a:r>
              <a:rPr dirty="0" sz="1200" spc="3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L="304165" marR="13970" indent="-304165">
              <a:lnSpc>
                <a:spcPct val="100000"/>
              </a:lnSpc>
              <a:spcBef>
                <a:spcPts val="555"/>
              </a:spcBef>
              <a:buAutoNum type="arabicPeriod" startAt="4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Trello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........................................................................................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R="9525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Tableau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Trello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R="19050">
              <a:lnSpc>
                <a:spcPct val="100000"/>
              </a:lnSpc>
              <a:spcBef>
                <a:spcPts val="550"/>
              </a:spcBef>
            </a:pPr>
            <a:r>
              <a:rPr dirty="0" sz="1200" spc="-10">
                <a:latin typeface="Times New Roman"/>
                <a:cs typeface="Times New Roman"/>
              </a:rPr>
              <a:t>Collaboration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Trello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R="9525">
              <a:lnSpc>
                <a:spcPct val="100000"/>
              </a:lnSpc>
              <a:spcBef>
                <a:spcPts val="545"/>
              </a:spcBef>
            </a:pPr>
            <a:r>
              <a:rPr dirty="0" sz="1200" spc="-10">
                <a:latin typeface="Times New Roman"/>
                <a:cs typeface="Times New Roman"/>
              </a:rPr>
              <a:t>Exemple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R="14604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Unitaires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Débogage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algn="r" marL="12700" marR="13335" indent="151765">
              <a:lnSpc>
                <a:spcPct val="137400"/>
              </a:lnSpc>
              <a:spcBef>
                <a:spcPts val="15"/>
              </a:spcBef>
            </a:pPr>
            <a:r>
              <a:rPr dirty="0" sz="1200">
                <a:latin typeface="Times New Roman"/>
                <a:cs typeface="Times New Roman"/>
              </a:rPr>
              <a:t>Débogage</a:t>
            </a:r>
            <a:r>
              <a:rPr dirty="0" sz="1200" spc="12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</a:t>
            </a:r>
            <a:r>
              <a:rPr dirty="0" sz="1200" spc="12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16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dirty="0" sz="1200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Projet</a:t>
            </a:r>
            <a:r>
              <a:rPr dirty="0" sz="1200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......................................................................................</a:t>
            </a:r>
            <a:r>
              <a:rPr dirty="0" sz="12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316865" algn="l"/>
              </a:tabLst>
            </a:pPr>
            <a:r>
              <a:rPr dirty="0" sz="1200" spc="-10">
                <a:latin typeface="Times New Roman"/>
                <a:cs typeface="Times New Roman"/>
              </a:rPr>
              <a:t>Introduction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316865" algn="l"/>
              </a:tabLst>
            </a:pPr>
            <a:r>
              <a:rPr dirty="0" sz="1200">
                <a:latin typeface="Times New Roman"/>
                <a:cs typeface="Times New Roman"/>
              </a:rPr>
              <a:t>Objectif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316865" algn="l"/>
              </a:tabLst>
            </a:pPr>
            <a:r>
              <a:rPr dirty="0" sz="1200">
                <a:latin typeface="Times New Roman"/>
                <a:cs typeface="Times New Roman"/>
              </a:rPr>
              <a:t>Prérequis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</a:t>
            </a:r>
            <a:r>
              <a:rPr dirty="0" sz="1200" spc="12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algn="r" marR="30480">
              <a:lnSpc>
                <a:spcPct val="100000"/>
              </a:lnSpc>
              <a:spcBef>
                <a:spcPts val="540"/>
              </a:spcBef>
            </a:pPr>
            <a:r>
              <a:rPr dirty="0" sz="1200" spc="-10">
                <a:latin typeface="Times New Roman"/>
                <a:cs typeface="Times New Roman"/>
              </a:rPr>
              <a:t>Environnement</a:t>
            </a:r>
            <a:r>
              <a:rPr dirty="0" sz="1200" spc="3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</a:t>
            </a:r>
            <a:r>
              <a:rPr dirty="0" sz="1200" spc="3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algn="r" marR="26034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Times New Roman"/>
                <a:cs typeface="Times New Roman"/>
              </a:rPr>
              <a:t>Outils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 algn="r" marL="304165" marR="51435" indent="-304165">
              <a:lnSpc>
                <a:spcPct val="100000"/>
              </a:lnSpc>
              <a:spcBef>
                <a:spcPts val="550"/>
              </a:spcBef>
              <a:buAutoNum type="arabicPeriod" startAt="4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............................................................................................................17</a:t>
            </a:r>
            <a:endParaRPr sz="1200">
              <a:latin typeface="Times New Roman"/>
              <a:cs typeface="Times New Roman"/>
            </a:endParaRPr>
          </a:p>
          <a:p>
            <a:pPr algn="r" marR="1714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  <a:p>
            <a:pPr algn="r" marR="38100">
              <a:lnSpc>
                <a:spcPct val="100000"/>
              </a:lnSpc>
              <a:spcBef>
                <a:spcPts val="540"/>
              </a:spcBef>
            </a:pP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3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  <a:p>
            <a:pPr algn="r" marL="304165" marR="48260" indent="-304165">
              <a:lnSpc>
                <a:spcPct val="100000"/>
              </a:lnSpc>
              <a:spcBef>
                <a:spcPts val="550"/>
              </a:spcBef>
              <a:buAutoNum type="arabicPeriod" startAt="5"/>
              <a:tabLst>
                <a:tab pos="304165" algn="l"/>
              </a:tabLst>
            </a:pPr>
            <a:r>
              <a:rPr dirty="0" sz="1200" spc="-10">
                <a:latin typeface="Times New Roman"/>
                <a:cs typeface="Times New Roman"/>
              </a:rPr>
              <a:t>Installation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Configuration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.............................................................................................17</a:t>
            </a:r>
            <a:endParaRPr sz="1200">
              <a:latin typeface="Times New Roman"/>
              <a:cs typeface="Times New Roman"/>
            </a:endParaRPr>
          </a:p>
          <a:p>
            <a:pPr algn="r" marR="2095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................................................................................................................................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  <a:p>
            <a:pPr algn="r" marR="4254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...............................................................................................................................</a:t>
            </a:r>
            <a:r>
              <a:rPr dirty="0" sz="1200" spc="125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  <a:p>
            <a:pPr algn="r" marL="304165" marR="12700" indent="-304165">
              <a:lnSpc>
                <a:spcPct val="100000"/>
              </a:lnSpc>
              <a:spcBef>
                <a:spcPts val="540"/>
              </a:spcBef>
              <a:buAutoNum type="arabicPeriod" startAt="6"/>
              <a:tabLst>
                <a:tab pos="304165" algn="l"/>
              </a:tabLst>
            </a:pPr>
            <a:r>
              <a:rPr dirty="0" sz="1200">
                <a:latin typeface="Times New Roman"/>
                <a:cs typeface="Times New Roman"/>
              </a:rPr>
              <a:t>Conclusion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........................................................................................................................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  <a:p>
            <a:pPr algn="r" marR="34925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  <a:r>
              <a:rPr dirty="0" sz="1200" spc="3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0000"/>
                </a:solidFill>
                <a:latin typeface="Times New Roman"/>
                <a:cs typeface="Times New Roman"/>
              </a:rPr>
              <a:t>Générale</a:t>
            </a:r>
            <a:r>
              <a:rPr dirty="0" sz="1200" spc="3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</a:t>
            </a:r>
            <a:r>
              <a:rPr dirty="0" sz="1200" spc="3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Times New Roman"/>
                <a:cs typeface="Times New Roman"/>
              </a:rPr>
              <a:t>18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998538"/>
            <a:ext cx="6342380" cy="796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Cahier</a:t>
            </a:r>
            <a:r>
              <a:rPr dirty="0" sz="18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imes New Roman"/>
                <a:cs typeface="Times New Roman"/>
              </a:rPr>
              <a:t>charges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buAutoNum type="arabicPeriod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Présentation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Contexte</a:t>
            </a:r>
            <a:endParaRPr sz="14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53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du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est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élément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stratégique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toute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entreprise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commerciale,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notamment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dans</a:t>
            </a:r>
            <a:endParaRPr sz="1200">
              <a:latin typeface="Times New Roman"/>
              <a:cs typeface="Times New Roman"/>
            </a:endParaRPr>
          </a:p>
          <a:p>
            <a:pPr marL="12700" marR="113030" indent="1524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domaine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du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matériel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informatique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électronique.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mauvaise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peut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entraînerdes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ruptures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pertes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financières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insatisfaction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clients.</a:t>
            </a:r>
            <a:endParaRPr sz="1200">
              <a:latin typeface="Times New Roman"/>
              <a:cs typeface="Times New Roman"/>
            </a:endParaRPr>
          </a:p>
          <a:p>
            <a:pPr marL="24130" marR="5080" indent="-635">
              <a:lnSpc>
                <a:spcPts val="1370"/>
              </a:lnSpc>
              <a:spcBef>
                <a:spcPts val="44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GStock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vise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concevoir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application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intelligente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permettant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gérer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efficacement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les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articles,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clients,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fournisseurs,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commandes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ventes,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tout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intégrant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endParaRPr sz="1200">
              <a:latin typeface="Times New Roman"/>
              <a:cs typeface="Times New Roman"/>
            </a:endParaRPr>
          </a:p>
          <a:p>
            <a:pPr marL="24130">
              <a:lnSpc>
                <a:spcPts val="1255"/>
              </a:lnSpc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d’analyse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intelligent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basé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sur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l’IA.</a:t>
            </a: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ts val="2120"/>
              </a:lnSpc>
              <a:buAutoNum type="arabicPeriod" startAt="2"/>
              <a:tabLst>
                <a:tab pos="468630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Objectifs</a:t>
            </a:r>
            <a:endParaRPr sz="1800">
              <a:latin typeface="Times New Roman"/>
              <a:cs typeface="Times New Roman"/>
            </a:endParaRPr>
          </a:p>
          <a:p>
            <a:pPr marL="12700" marR="1102995">
              <a:lnSpc>
                <a:spcPts val="1380"/>
              </a:lnSpc>
              <a:spcBef>
                <a:spcPts val="1605"/>
              </a:spcBef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L'objectif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principal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est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développer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application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robuste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évolutive,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offrant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une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intuitive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 et des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fonctionnalités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adaptées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 à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l’utilisateur.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Les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fonctionnalités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principales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incluent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7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articles</a:t>
            </a:r>
            <a:r>
              <a:rPr dirty="0" sz="1200" spc="-3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Ajout,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modification,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suppression,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leurs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quantités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stock.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clients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fournisseurs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Ajout,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mise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jour,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suppression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Recommandations</a:t>
            </a:r>
            <a:r>
              <a:rPr dirty="0" sz="1200" spc="25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Fournir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recommandations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intelligentes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assistant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IA.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700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Surveillance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Suivi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l’état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du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temps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réel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détection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risques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rupture.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0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Profil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utilisateur</a:t>
            </a:r>
            <a:r>
              <a:rPr dirty="0" sz="1200" spc="-3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Enregistrer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commandes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ventes.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buAutoNum type="arabicPeriod" startAt="3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Description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l'Existant</a:t>
            </a:r>
            <a:endParaRPr sz="1800">
              <a:latin typeface="Times New Roman"/>
              <a:cs typeface="Times New Roman"/>
            </a:endParaRPr>
          </a:p>
          <a:p>
            <a:pPr marL="12700" marR="855980">
              <a:lnSpc>
                <a:spcPct val="137600"/>
              </a:lnSpc>
              <a:spcBef>
                <a:spcPts val="95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Avant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projet,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était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souvent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réalisée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manière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manuelle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outils basiques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(Excel),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qui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rend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difficile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l’analyse,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prévision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prise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décision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rapide.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Critères</a:t>
            </a:r>
            <a:r>
              <a:rPr dirty="0" sz="1400" spc="-4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d'Acceptabilité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7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Simple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utiliser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utilisateur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intuitive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tous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rôles.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Robuste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sécurisée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fiable.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Évolutive</a:t>
            </a:r>
            <a:r>
              <a:rPr dirty="0" sz="1200" spc="-4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Conception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permettant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l'ajout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futur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nouvelles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fonctionnalités.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9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Compatible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Accessible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sur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principaux navigateurs modernes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appareils.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873266"/>
            <a:ext cx="5727065" cy="2938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Times New Roman"/>
              <a:buAutoNum type="arabicPeriod" startAt="4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Expression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des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Besoins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Besoins</a:t>
            </a:r>
            <a:r>
              <a:rPr dirty="0" sz="1400" spc="-4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Fonctionnels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6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ADMIN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85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articles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(création,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mise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jour,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suppression).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95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clients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(ajout,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suivi,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suppression).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85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fournisseurs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(ajout,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mise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jour,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suppression).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95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Transformation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automatique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d’une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commande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vente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si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est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suffisant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85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ventes.</a:t>
            </a:r>
            <a:endParaRPr sz="1200">
              <a:latin typeface="Times New Roman"/>
              <a:cs typeface="Times New Roman"/>
            </a:endParaRPr>
          </a:p>
          <a:p>
            <a:pPr lvl="2" marL="926465" indent="-220979">
              <a:lnSpc>
                <a:spcPct val="100000"/>
              </a:lnSpc>
              <a:spcBef>
                <a:spcPts val="730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Analyse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intelligente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du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stock.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ct val="100000"/>
              </a:lnSpc>
              <a:spcBef>
                <a:spcPts val="640"/>
              </a:spcBef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Alertes</a:t>
            </a:r>
            <a:r>
              <a:rPr dirty="0" baseline="2314" sz="1800" spc="-6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baseline="2314" sz="1800" spc="-52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 spc="-15">
                <a:solidFill>
                  <a:srgbClr val="333333"/>
                </a:solidFill>
                <a:latin typeface="Times New Roman"/>
                <a:cs typeface="Times New Roman"/>
              </a:rPr>
              <a:t>rupture.</a:t>
            </a:r>
            <a:endParaRPr baseline="2314"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41259" y="3939376"/>
            <a:ext cx="8839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EMPLOYE</a:t>
            </a:r>
            <a:r>
              <a:rPr dirty="0" sz="1200" spc="-6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5174" y="3956305"/>
            <a:ext cx="7683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solidFill>
                  <a:srgbClr val="333333"/>
                </a:solidFill>
                <a:latin typeface="Segoe UI"/>
                <a:cs typeface="Segoe UI"/>
              </a:rPr>
              <a:t>•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06016" y="4305491"/>
            <a:ext cx="2554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Valider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vente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mise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jour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du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stock.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72374" y="4315943"/>
            <a:ext cx="10096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solidFill>
                  <a:srgbClr val="333333"/>
                </a:solidFill>
                <a:latin typeface="Courier New"/>
                <a:cs typeface="Courier New"/>
              </a:rPr>
              <a:t>o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06016" y="4740009"/>
            <a:ext cx="3690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Consulter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,les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alertes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rupture,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analyses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IA</a:t>
            </a:r>
            <a:r>
              <a:rPr dirty="0" sz="1200" spc="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5741" y="5151134"/>
            <a:ext cx="5377180" cy="439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7900" indent="-188595">
              <a:lnSpc>
                <a:spcPct val="100000"/>
              </a:lnSpc>
              <a:spcBef>
                <a:spcPts val="100"/>
              </a:spcBef>
              <a:buSzPct val="79166"/>
              <a:buFont typeface="Courier New"/>
              <a:buChar char="o"/>
              <a:tabLst>
                <a:tab pos="977900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Enregistrer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commande.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Besoins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Non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Fonctionnels</a:t>
            </a:r>
            <a:endParaRPr sz="1400">
              <a:latin typeface="Times New Roman"/>
              <a:cs typeface="Times New Roman"/>
            </a:endParaRPr>
          </a:p>
          <a:p>
            <a:pPr marL="553085" marR="5080" indent="-160020">
              <a:lnSpc>
                <a:spcPct val="138600"/>
              </a:lnSpc>
              <a:spcBef>
                <a:spcPts val="1080"/>
              </a:spcBef>
              <a:buSzPct val="79166"/>
              <a:buFont typeface="Segoe UI"/>
              <a:buChar char="•"/>
              <a:tabLst>
                <a:tab pos="553085" algn="l"/>
              </a:tabLst>
            </a:pPr>
            <a:r>
              <a:rPr dirty="0" baseline="2314" sz="1800" spc="-15" b="1">
                <a:solidFill>
                  <a:srgbClr val="333333"/>
                </a:solidFill>
                <a:latin typeface="Times New Roman"/>
                <a:cs typeface="Times New Roman"/>
              </a:rPr>
              <a:t>Performance</a:t>
            </a:r>
            <a:r>
              <a:rPr dirty="0" baseline="2314" sz="1800" spc="-44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baseline="2314" sz="1800" spc="-22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Réponses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rapides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aux</a:t>
            </a:r>
            <a:r>
              <a:rPr dirty="0" baseline="2314" sz="1800" spc="-37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 spc="-15">
                <a:solidFill>
                  <a:srgbClr val="333333"/>
                </a:solidFill>
                <a:latin typeface="Times New Roman"/>
                <a:cs typeface="Times New Roman"/>
              </a:rPr>
              <a:t>requêtes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même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grand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>
                <a:solidFill>
                  <a:srgbClr val="333333"/>
                </a:solidFill>
                <a:latin typeface="Times New Roman"/>
                <a:cs typeface="Times New Roman"/>
              </a:rPr>
              <a:t>volume</a:t>
            </a:r>
            <a:r>
              <a:rPr dirty="0" baseline="2314" sz="1800" spc="-44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baseline="2314" sz="1800" spc="-37">
                <a:solidFill>
                  <a:srgbClr val="333333"/>
                </a:solidFill>
                <a:latin typeface="Times New Roman"/>
                <a:cs typeface="Times New Roman"/>
              </a:rPr>
              <a:t>de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  <a:p>
            <a:pPr marL="553085" indent="-182245">
              <a:lnSpc>
                <a:spcPct val="100000"/>
              </a:lnSpc>
              <a:spcBef>
                <a:spcPts val="1045"/>
              </a:spcBef>
              <a:buSzPct val="79166"/>
              <a:buFont typeface="Segoe UI"/>
              <a:buChar char="•"/>
              <a:tabLst>
                <a:tab pos="55308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Accessibilité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Fonctionnement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fluide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desktop,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mobile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tablette.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Segoe UI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553085" indent="-189865">
              <a:lnSpc>
                <a:spcPct val="100000"/>
              </a:lnSpc>
              <a:buSzPct val="79166"/>
              <a:buFont typeface="Segoe UI"/>
              <a:buChar char="•"/>
              <a:tabLst>
                <a:tab pos="55308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Sécurité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29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Authentification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autorisations.</a:t>
            </a:r>
            <a:endParaRPr sz="1200">
              <a:latin typeface="Times New Roman"/>
              <a:cs typeface="Times New Roman"/>
            </a:endParaRPr>
          </a:p>
          <a:p>
            <a:pPr marL="507365" marR="209550" indent="-144780">
              <a:lnSpc>
                <a:spcPct val="158500"/>
              </a:lnSpc>
              <a:spcBef>
                <a:spcPts val="505"/>
              </a:spcBef>
              <a:buSzPct val="79166"/>
              <a:buFont typeface="Segoe UI"/>
              <a:buChar char="•"/>
              <a:tabLst>
                <a:tab pos="507365" algn="l"/>
                <a:tab pos="521970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Scalabilité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Capacité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d’ajouter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nouvelles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fonctionnalités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gérer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plus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d’utilisateurs</a:t>
            </a:r>
            <a:r>
              <a:rPr dirty="0" sz="1200" spc="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l’avenir.</a:t>
            </a:r>
            <a:endParaRPr sz="1200">
              <a:latin typeface="Times New Roman"/>
              <a:cs typeface="Times New Roman"/>
            </a:endParaRPr>
          </a:p>
          <a:p>
            <a:pPr marL="529590" indent="-227329">
              <a:lnSpc>
                <a:spcPct val="100000"/>
              </a:lnSpc>
              <a:spcBef>
                <a:spcPts val="640"/>
              </a:spcBef>
              <a:buAutoNum type="arabicPeriod" startAt="5"/>
              <a:tabLst>
                <a:tab pos="529590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Contraintes</a:t>
            </a:r>
            <a:endParaRPr sz="18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129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Coûts</a:t>
            </a:r>
            <a:endParaRPr sz="14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1445"/>
              </a:spcBef>
            </a:pP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35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sera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développé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outils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gratuits</a:t>
            </a:r>
            <a:r>
              <a:rPr dirty="0" sz="135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endParaRPr sz="1350">
              <a:latin typeface="Times New Roman"/>
              <a:cs typeface="Times New Roman"/>
            </a:endParaRPr>
          </a:p>
          <a:p>
            <a:pPr lvl="1" marL="530225" indent="-227965">
              <a:lnSpc>
                <a:spcPct val="100000"/>
              </a:lnSpc>
              <a:spcBef>
                <a:spcPts val="1330"/>
              </a:spcBef>
              <a:buSzPct val="70370"/>
              <a:buFont typeface="Segoe UI"/>
              <a:buChar char="•"/>
              <a:tabLst>
                <a:tab pos="530225" algn="l"/>
              </a:tabLst>
            </a:pP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Languages</a:t>
            </a:r>
            <a:r>
              <a:rPr dirty="0" sz="1350" spc="-5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5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HTML</a:t>
            </a:r>
            <a:r>
              <a:rPr dirty="0" sz="135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,JavaScript,</a:t>
            </a:r>
            <a:r>
              <a:rPr dirty="0" sz="135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2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350" spc="-20" b="1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  <a:p>
            <a:pPr lvl="1" marL="530225" indent="-227965">
              <a:lnSpc>
                <a:spcPct val="100000"/>
              </a:lnSpc>
              <a:spcBef>
                <a:spcPts val="685"/>
              </a:spcBef>
              <a:buSzPct val="70370"/>
              <a:buFont typeface="Segoe UI"/>
              <a:buChar char="•"/>
              <a:tabLst>
                <a:tab pos="530225" algn="l"/>
              </a:tabLst>
            </a:pP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35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35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35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Times New Roman"/>
                <a:cs typeface="Times New Roman"/>
              </a:rPr>
              <a:t>MySQL.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80654" y="4732821"/>
            <a:ext cx="10096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solidFill>
                  <a:srgbClr val="333333"/>
                </a:solidFill>
                <a:latin typeface="Courier New"/>
                <a:cs typeface="Courier New"/>
              </a:rPr>
              <a:t>o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86942" y="1370420"/>
            <a:ext cx="6433820" cy="2736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Contraintes</a:t>
            </a:r>
            <a:r>
              <a:rPr dirty="0" sz="1400" spc="-4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Techniques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7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Front-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end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HTML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javaScript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CSS.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Back-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end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Sessions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l’authentification,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PDO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l’accès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sécurisé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3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MySQL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persistance.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9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Outils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supplémentaires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d’analyse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intelligente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heuristique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développé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6.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Déroulement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Planification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suivra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planification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agile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livrables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hebdomadaires.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86942" y="7140499"/>
            <a:ext cx="450469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893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Planification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dans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GANTT</a:t>
            </a: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 Project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Documentation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document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README.md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inclura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34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Instructions</a:t>
            </a:r>
            <a:r>
              <a:rPr dirty="0" sz="1200" spc="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d’installation</a:t>
            </a:r>
            <a:r>
              <a:rPr dirty="0" sz="1200" spc="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d’utilisation.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Dépendances</a:t>
            </a:r>
            <a:r>
              <a:rPr dirty="0" sz="1200" spc="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utilisées.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9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Exemples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cas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d’utilisation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scénarios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tests.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5194" y="4238283"/>
            <a:ext cx="4999316" cy="2939402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873266"/>
            <a:ext cx="4714875" cy="334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Times New Roman"/>
              <a:buAutoNum type="arabicPeriod" startAt="7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Technologies</a:t>
            </a:r>
            <a:r>
              <a:rPr dirty="0" sz="1800" spc="-11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Utilisées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Front-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end</a:t>
            </a:r>
            <a:r>
              <a:rPr dirty="0" sz="1400" spc="5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55"/>
              </a:spcBef>
              <a:buSzPct val="70370"/>
              <a:buFont typeface="Segoe UI"/>
              <a:buChar char="•"/>
              <a:tabLst>
                <a:tab pos="469265" algn="l"/>
              </a:tabLst>
            </a:pP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HTML</a:t>
            </a:r>
            <a:r>
              <a:rPr dirty="0" sz="135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dirty="0" sz="135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utilisateur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moderne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Times New Roman"/>
                <a:cs typeface="Times New Roman"/>
              </a:rPr>
              <a:t>dynamique.</a:t>
            </a:r>
            <a:endParaRPr sz="135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680"/>
              </a:spcBef>
              <a:buSzPct val="70370"/>
              <a:buFont typeface="Segoe UI"/>
              <a:buChar char="•"/>
              <a:tabLst>
                <a:tab pos="469265" algn="l"/>
              </a:tabLst>
            </a:pP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CSS</a:t>
            </a:r>
            <a:r>
              <a:rPr dirty="0" sz="135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composants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stylisés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35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Times New Roman"/>
                <a:cs typeface="Times New Roman"/>
              </a:rPr>
              <a:t>réactifs.</a:t>
            </a:r>
            <a:endParaRPr sz="13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485"/>
              </a:spcBef>
              <a:buClr>
                <a:srgbClr val="333333"/>
              </a:buClr>
              <a:buFont typeface="Segoe UI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Back-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end</a:t>
            </a:r>
            <a:r>
              <a:rPr dirty="0" sz="1400" spc="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60"/>
              </a:spcBef>
              <a:buSzPct val="70370"/>
              <a:buFont typeface="Segoe UI"/>
              <a:buChar char="•"/>
              <a:tabLst>
                <a:tab pos="469265" algn="l"/>
              </a:tabLst>
            </a:pP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35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35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logique</a:t>
            </a:r>
            <a:r>
              <a:rPr dirty="0" sz="135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Times New Roman"/>
                <a:cs typeface="Times New Roman"/>
              </a:rPr>
              <a:t>métier.</a:t>
            </a:r>
            <a:endParaRPr sz="13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475"/>
              </a:spcBef>
              <a:buClr>
                <a:srgbClr val="333333"/>
              </a:buClr>
              <a:buFont typeface="Segoe UI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Base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Données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ct val="100000"/>
              </a:lnSpc>
              <a:spcBef>
                <a:spcPts val="1460"/>
              </a:spcBef>
              <a:buSzPct val="70370"/>
              <a:buFont typeface="Segoe UI"/>
              <a:buChar char="•"/>
              <a:tabLst>
                <a:tab pos="469265" algn="l"/>
              </a:tabLst>
            </a:pP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MySQL</a:t>
            </a:r>
            <a:r>
              <a:rPr dirty="0" sz="135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robuste</a:t>
            </a:r>
            <a:r>
              <a:rPr dirty="0" sz="135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35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Times New Roman"/>
                <a:cs typeface="Times New Roman"/>
              </a:rPr>
              <a:t>données.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721" y="3337857"/>
            <a:ext cx="6082767" cy="537531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86942" y="871818"/>
            <a:ext cx="5779770" cy="213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1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Conception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dirty="0" sz="1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outils</a:t>
            </a:r>
            <a:r>
              <a:rPr dirty="0" sz="1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imes New Roman"/>
                <a:cs typeface="Times New Roman"/>
              </a:rPr>
              <a:t>utilisés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1.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Les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diagrammes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UML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Diagramme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Classe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  <a:spcBef>
                <a:spcPts val="625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modélise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mettant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évidence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les </a:t>
            </a:r>
            <a:r>
              <a:rPr dirty="0" sz="1200">
                <a:latin typeface="Times New Roman"/>
                <a:cs typeface="Times New Roman"/>
              </a:rPr>
              <a:t>entités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relations,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fournisseurs,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articles,</a:t>
            </a:r>
            <a:r>
              <a:rPr dirty="0" sz="1200" spc="-25">
                <a:latin typeface="Times New Roman"/>
                <a:cs typeface="Times New Roman"/>
              </a:rPr>
              <a:t> les </a:t>
            </a:r>
            <a:r>
              <a:rPr dirty="0" sz="1200">
                <a:latin typeface="Times New Roman"/>
                <a:cs typeface="Times New Roman"/>
              </a:rPr>
              <a:t>clients,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ventes.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également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attributs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associés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chaque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entité.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5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060255" y="8890458"/>
            <a:ext cx="1435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Diagramme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Classe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06" y="1900565"/>
            <a:ext cx="6369645" cy="681607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86942" y="773200"/>
            <a:ext cx="5610225" cy="78359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400">
                <a:solidFill>
                  <a:srgbClr val="006FBF"/>
                </a:solidFill>
                <a:latin typeface="Times New Roman"/>
                <a:cs typeface="Times New Roman"/>
              </a:rPr>
              <a:t>Diagramme</a:t>
            </a:r>
            <a:r>
              <a:rPr dirty="0" sz="1400" spc="-3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3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06FBF"/>
                </a:solidFill>
                <a:latin typeface="Times New Roman"/>
                <a:cs typeface="Times New Roman"/>
              </a:rPr>
              <a:t>Cas</a:t>
            </a:r>
            <a:r>
              <a:rPr dirty="0" sz="1400" spc="-3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06FBF"/>
                </a:solidFill>
                <a:latin typeface="Times New Roman"/>
                <a:cs typeface="Times New Roman"/>
              </a:rPr>
              <a:t>d’Utilisation</a:t>
            </a:r>
            <a:r>
              <a:rPr dirty="0" sz="1400" spc="-3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06FBF"/>
                </a:solidFill>
                <a:latin typeface="Times New Roman"/>
                <a:cs typeface="Times New Roman"/>
              </a:rPr>
              <a:t>(Use</a:t>
            </a:r>
            <a:r>
              <a:rPr dirty="0" sz="1400" spc="-3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06FBF"/>
                </a:solidFill>
                <a:latin typeface="Times New Roman"/>
                <a:cs typeface="Times New Roman"/>
              </a:rPr>
              <a:t>Case)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70"/>
              </a:spcBef>
            </a:pPr>
            <a:r>
              <a:rPr dirty="0" sz="1200">
                <a:latin typeface="Times New Roman"/>
                <a:cs typeface="Times New Roman"/>
              </a:rPr>
              <a:t>Ce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identifie</a:t>
            </a:r>
            <a:r>
              <a:rPr dirty="0" sz="1200">
                <a:latin typeface="Times New Roman"/>
                <a:cs typeface="Times New Roman"/>
              </a:rPr>
              <a:t> les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accessibles</a:t>
            </a:r>
            <a:r>
              <a:rPr dirty="0" sz="1200">
                <a:latin typeface="Times New Roman"/>
                <a:cs typeface="Times New Roman"/>
              </a:rPr>
              <a:t> aux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différents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utilisateurs </a:t>
            </a:r>
            <a:r>
              <a:rPr dirty="0" sz="1200">
                <a:latin typeface="Times New Roman"/>
                <a:cs typeface="Times New Roman"/>
              </a:rPr>
              <a:t>(Admin,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Employe)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illustre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système.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1635"/>
              </a:lnSpc>
            </a:pPr>
            <a:r>
              <a:rPr dirty="0" spc="-50"/>
              <a:t>6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73261" y="8948421"/>
            <a:ext cx="2116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Diagramme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Cas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d’Utilisation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053745" y="10096462"/>
            <a:ext cx="114935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6942" y="875780"/>
            <a:ext cx="5704840" cy="58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6FBF"/>
                </a:solidFill>
                <a:latin typeface="Times New Roman"/>
                <a:cs typeface="Times New Roman"/>
              </a:rPr>
              <a:t>Diagramme</a:t>
            </a:r>
            <a:r>
              <a:rPr dirty="0" sz="1200" spc="-7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006FBF"/>
                </a:solidFill>
                <a:latin typeface="Times New Roman"/>
                <a:cs typeface="Times New Roman"/>
              </a:rPr>
              <a:t>d’Activité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d’activité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décrit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métiers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travail,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la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articles,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traitement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consultation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ventes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l’analyse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2711056" y="10089973"/>
            <a:ext cx="2766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Diagramme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d’Activité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Gestion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stock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4083" y="1592810"/>
            <a:ext cx="5764378" cy="8385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120" y="2429170"/>
            <a:ext cx="5602558" cy="606081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86942" y="1240829"/>
            <a:ext cx="56013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Diagrammes</a:t>
            </a:r>
            <a:r>
              <a:rPr dirty="0" sz="1400" spc="-3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Séquence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20"/>
              </a:spcBef>
            </a:pP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Admin</a:t>
            </a:r>
            <a:r>
              <a:rPr dirty="0" sz="1200" spc="-3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-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des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ventes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l'Admin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ajouter,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modifier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ou </a:t>
            </a:r>
            <a:r>
              <a:rPr dirty="0" sz="1200">
                <a:latin typeface="Times New Roman"/>
                <a:cs typeface="Times New Roman"/>
              </a:rPr>
              <a:t>supprimer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ventes.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8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246299" y="9181338"/>
            <a:ext cx="2877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Diagrammes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Séquence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(Employe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-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vente)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86942" y="780964"/>
            <a:ext cx="6013450" cy="75628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Admin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–</a:t>
            </a:r>
            <a:r>
              <a:rPr dirty="0" sz="1200" spc="-2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Analyse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AI</a:t>
            </a:r>
            <a:r>
              <a:rPr dirty="0" sz="1200" spc="-2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001F5F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840"/>
              </a:spcBef>
            </a:pP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montre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administrateur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requête,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depuis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l'attribution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jusqu'à</a:t>
            </a:r>
            <a:r>
              <a:rPr dirty="0" sz="1200" spc="-25">
                <a:latin typeface="Times New Roman"/>
                <a:cs typeface="Times New Roman"/>
              </a:rPr>
              <a:t> la </a:t>
            </a:r>
            <a:r>
              <a:rPr dirty="0" sz="1200" spc="-10">
                <a:latin typeface="Times New Roman"/>
                <a:cs typeface="Times New Roman"/>
              </a:rPr>
              <a:t>finalisation.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6942" y="5298733"/>
            <a:ext cx="5771515" cy="106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6860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Diagrammes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Séquence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(Admin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Analyse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AI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Modèle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Conceptuel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de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001F5F"/>
                </a:solidFill>
                <a:latin typeface="Times New Roman"/>
                <a:cs typeface="Times New Roman"/>
              </a:rPr>
              <a:t>(MCD)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MCD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décrit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entités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attributs,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offrant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globale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2496502" y="9890176"/>
            <a:ext cx="2559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Modèle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Conceptuel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Données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(MCD)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4373" y="1664586"/>
            <a:ext cx="5577840" cy="8272145"/>
            <a:chOff x="964373" y="1664586"/>
            <a:chExt cx="5577840" cy="8272145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4373" y="1664586"/>
              <a:ext cx="5577664" cy="361920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8363" y="6411964"/>
              <a:ext cx="4282198" cy="352440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5542" y="871818"/>
            <a:ext cx="1954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2.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Les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Outils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Utilisés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7483" y="1334879"/>
          <a:ext cx="5842000" cy="7247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/>
                <a:gridCol w="3338195"/>
              </a:tblGrid>
              <a:tr h="238760">
                <a:tc>
                  <a:txBody>
                    <a:bodyPr/>
                    <a:lstStyle/>
                    <a:p>
                      <a:pPr marL="69850">
                        <a:lnSpc>
                          <a:spcPts val="178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Outil/Bibliothèque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78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Usage/Description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726440">
                        <a:lnSpc>
                          <a:spcPts val="1839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PHP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natif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Langage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côté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serveur.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0265">
                <a:tc>
                  <a:txBody>
                    <a:bodyPr/>
                    <a:lstStyle/>
                    <a:p>
                      <a:pPr marL="6870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PHP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MVC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516890">
                        <a:lnSpc>
                          <a:spcPct val="107100"/>
                        </a:lnSpc>
                        <a:spcBef>
                          <a:spcPts val="55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Utilisé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développer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logique</a:t>
                      </a:r>
                      <a:r>
                        <a:rPr dirty="0" sz="12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métier,</a:t>
                      </a:r>
                      <a:r>
                        <a:rPr dirty="0" sz="12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controleurs,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modèles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services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L’application.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marL="325755">
                        <a:lnSpc>
                          <a:spcPts val="1839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Authentification 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PHP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78815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Gestion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l'autorisation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sécuriser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les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endpoints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l'API.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PDO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61925">
                        <a:lnSpc>
                          <a:spcPct val="958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Framework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ORM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(Object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Mapping)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utilisé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gérer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entités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interactions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avec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données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JPA.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MySQL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48309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données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relationnelle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stocker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les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données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(articles,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clients,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ventes,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etc.).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6460">
                <a:tc>
                  <a:txBody>
                    <a:bodyPr/>
                    <a:lstStyle/>
                    <a:p>
                      <a:pPr marL="6330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Sessions</a:t>
                      </a:r>
                      <a:r>
                        <a:rPr dirty="0" sz="16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PHP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29235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Utilisée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gérer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l’authentification,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rôles (administrateur,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employé)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sécurité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accès.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5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Git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3364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78740" indent="12065">
                        <a:lnSpc>
                          <a:spcPct val="116700"/>
                        </a:lnSpc>
                        <a:spcBef>
                          <a:spcPts val="119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Système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gestion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versions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utilisé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suivre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modifications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du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collaborer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avec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d'autres développeurs.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113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64A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3364A3"/>
                      </a:solidFill>
                      <a:prstDash val="solid"/>
                    </a:lnB>
                  </a:tcPr>
                </a:tc>
              </a:tr>
              <a:tr h="1275080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GitHub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364A3"/>
                      </a:solidFill>
                      <a:prstDash val="solid"/>
                    </a:lnL>
                    <a:lnR w="6350">
                      <a:solidFill>
                        <a:srgbClr val="3364A3"/>
                      </a:solidFill>
                      <a:prstDash val="solid"/>
                    </a:lnR>
                    <a:lnT w="12700">
                      <a:solidFill>
                        <a:srgbClr val="3364A3"/>
                      </a:solidFill>
                      <a:prstDash val="solid"/>
                    </a:lnT>
                    <a:lnB w="12700">
                      <a:solidFill>
                        <a:srgbClr val="3364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20014">
                        <a:lnSpc>
                          <a:spcPct val="144500"/>
                        </a:lnSpc>
                        <a:spcBef>
                          <a:spcPts val="8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Plateforme d'hébergement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stocker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code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source,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gérer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versions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collaborer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sur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projet.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315">
                    <a:lnL w="6350">
                      <a:solidFill>
                        <a:srgbClr val="3364A3"/>
                      </a:solidFill>
                      <a:prstDash val="solid"/>
                    </a:lnL>
                    <a:lnR w="12700">
                      <a:solidFill>
                        <a:srgbClr val="3364A3"/>
                      </a:solidFill>
                      <a:prstDash val="solid"/>
                    </a:lnR>
                    <a:lnT w="12700">
                      <a:solidFill>
                        <a:srgbClr val="3364A3"/>
                      </a:solidFill>
                      <a:prstDash val="solid"/>
                    </a:lnT>
                    <a:lnB w="12700">
                      <a:solidFill>
                        <a:srgbClr val="3364A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326" y="4850283"/>
            <a:ext cx="884161" cy="45647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5681" y="1763637"/>
            <a:ext cx="824763" cy="43488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5480" y="6675477"/>
            <a:ext cx="949680" cy="39564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6563" y="7658634"/>
            <a:ext cx="1308595" cy="48492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15657" y="871818"/>
            <a:ext cx="6436360" cy="327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Chapitre</a:t>
            </a:r>
            <a:r>
              <a:rPr dirty="0" sz="18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dirty="0" sz="1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imes New Roman"/>
                <a:cs typeface="Times New Roman"/>
              </a:rPr>
              <a:t>Développement</a:t>
            </a:r>
            <a:r>
              <a:rPr dirty="0" sz="18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imes New Roman"/>
                <a:cs typeface="Times New Roman"/>
              </a:rPr>
              <a:t>Backend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Times New Roman"/>
              <a:cs typeface="Times New Roman"/>
            </a:endParaRPr>
          </a:p>
          <a:p>
            <a:pPr marL="539750" indent="-227329">
              <a:lnSpc>
                <a:spcPct val="100000"/>
              </a:lnSpc>
              <a:buAutoNum type="arabicPeriod"/>
              <a:tabLst>
                <a:tab pos="539750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12700" marR="33020" indent="6985">
              <a:lnSpc>
                <a:spcPct val="112400"/>
              </a:lnSpc>
              <a:spcBef>
                <a:spcPts val="1075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l’application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GStock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constitue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cœur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logique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système.Il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responsable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gestion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communication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sécurité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traitement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des</a:t>
            </a:r>
            <a:endParaRPr sz="1200">
              <a:latin typeface="Times New Roman"/>
              <a:cs typeface="Times New Roman"/>
            </a:endParaRPr>
          </a:p>
          <a:p>
            <a:pPr marL="22860" marR="5080" indent="-10160">
              <a:lnSpc>
                <a:spcPts val="1380"/>
              </a:lnSpc>
              <a:spcBef>
                <a:spcPts val="35"/>
              </a:spcBef>
            </a:pPr>
            <a:r>
              <a:rPr dirty="0" sz="1200">
                <a:latin typeface="Times New Roman"/>
                <a:cs typeface="Times New Roman"/>
              </a:rPr>
              <a:t>règles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métiers.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chapitre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présente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aspects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techniques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notamment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l’architecture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adoptée,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configuration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technologies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utilisées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ainsi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leur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intégration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l’application.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200">
              <a:latin typeface="Times New Roman"/>
              <a:cs typeface="Times New Roman"/>
            </a:endParaRPr>
          </a:p>
          <a:p>
            <a:pPr marL="539750" indent="-227329">
              <a:lnSpc>
                <a:spcPct val="100000"/>
              </a:lnSpc>
              <a:buAutoNum type="arabicPeriod" startAt="2"/>
              <a:tabLst>
                <a:tab pos="53975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Initialisation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129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Création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du</a:t>
            </a:r>
            <a:r>
              <a:rPr dirty="0" sz="1400" spc="-1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projet</a:t>
            </a:r>
            <a:r>
              <a:rPr dirty="0" sz="1400" spc="-1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avec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PHP</a:t>
            </a:r>
            <a:endParaRPr sz="1400">
              <a:latin typeface="Times New Roman"/>
              <a:cs typeface="Times New Roman"/>
            </a:endParaRPr>
          </a:p>
          <a:p>
            <a:pPr marL="83820" marR="426720">
              <a:lnSpc>
                <a:spcPts val="1380"/>
              </a:lnSpc>
              <a:spcBef>
                <a:spcPts val="1575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initialisé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manuellement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mettant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structure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claire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dossiers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afin</a:t>
            </a:r>
            <a:r>
              <a:rPr dirty="0" sz="1200" spc="-25">
                <a:latin typeface="Times New Roman"/>
                <a:cs typeface="Times New Roman"/>
              </a:rPr>
              <a:t> de </a:t>
            </a:r>
            <a:r>
              <a:rPr dirty="0" sz="1200">
                <a:latin typeface="Times New Roman"/>
                <a:cs typeface="Times New Roman"/>
              </a:rPr>
              <a:t>séparer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logique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métier,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l’interface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l’accès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aux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5542" y="4495940"/>
            <a:ext cx="7683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latin typeface="Segoe UI"/>
                <a:cs typeface="Segoe UI"/>
              </a:rPr>
              <a:t>•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43774" y="4471455"/>
            <a:ext cx="150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Technologies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utilisées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72374" y="4822089"/>
            <a:ext cx="3088640" cy="908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1410"/>
              </a:lnSpc>
              <a:spcBef>
                <a:spcPts val="100"/>
              </a:spcBef>
              <a:buSzPct val="79166"/>
              <a:buFont typeface="Courier New"/>
              <a:buChar char="o"/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Langage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75"/>
              </a:lnSpc>
              <a:buSzPct val="79166"/>
              <a:buFont typeface="Courier New"/>
              <a:buChar char="o"/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MySQL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75"/>
              </a:lnSpc>
              <a:buSzPct val="79166"/>
              <a:buFont typeface="Courier New"/>
              <a:buChar char="o"/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Serveur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Apache(via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XAMPP)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380"/>
              </a:lnSpc>
              <a:buSzPct val="79166"/>
              <a:buFont typeface="Courier New"/>
              <a:buChar char="o"/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aux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PDO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(PHP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Objects)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ts val="1410"/>
              </a:lnSpc>
              <a:buSzPct val="79166"/>
              <a:buFont typeface="Courier New"/>
              <a:buChar char="o"/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sessions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Sessions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801" y="3732124"/>
            <a:ext cx="2986557" cy="565271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86942" y="871818"/>
            <a:ext cx="5351145" cy="267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Times New Roman"/>
              <a:buAutoNum type="arabicPeriod" startAt="3"/>
              <a:tabLst>
                <a:tab pos="468630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Architecture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Backend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605"/>
              </a:spcBef>
            </a:pPr>
            <a:r>
              <a:rPr dirty="0" sz="1200" spc="-10">
                <a:latin typeface="Times New Roman"/>
                <a:cs typeface="Times New Roman"/>
              </a:rPr>
              <a:t>L'architecture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choisie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modèle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MVC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(Model-View-Controller)</a:t>
            </a:r>
            <a:r>
              <a:rPr dirty="0" sz="1200" spc="-10">
                <a:latin typeface="Times New Roman"/>
                <a:cs typeface="Times New Roman"/>
              </a:rPr>
              <a:t>, permettant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10">
                <a:latin typeface="Times New Roman"/>
                <a:cs typeface="Times New Roman"/>
              </a:rPr>
              <a:t> meilleure organisation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10">
                <a:latin typeface="Times New Roman"/>
                <a:cs typeface="Times New Roman"/>
              </a:rPr>
              <a:t> maintenance facilitée.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spcBef>
                <a:spcPts val="130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Model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Gère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l’accès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opérations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CRUD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Controller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interfaces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(HTML,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CSS,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JavaScript)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View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logique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métier.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4.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Structure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2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structure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générée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suit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12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54541" y="9468257"/>
            <a:ext cx="2070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La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structure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du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backend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084" y="10091522"/>
            <a:ext cx="323850" cy="19050"/>
          </a:xfrm>
          <a:custGeom>
            <a:avLst/>
            <a:gdLst/>
            <a:ahLst/>
            <a:cxnLst/>
            <a:rect l="l" t="t" r="r" b="b"/>
            <a:pathLst>
              <a:path w="323850" h="19050">
                <a:moveTo>
                  <a:pt x="323634" y="0"/>
                </a:moveTo>
                <a:lnTo>
                  <a:pt x="0" y="0"/>
                </a:lnTo>
                <a:lnTo>
                  <a:pt x="0" y="18719"/>
                </a:lnTo>
                <a:lnTo>
                  <a:pt x="323634" y="18719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949084" y="10338486"/>
            <a:ext cx="323850" cy="58419"/>
          </a:xfrm>
          <a:custGeom>
            <a:avLst/>
            <a:gdLst/>
            <a:ahLst/>
            <a:cxnLst/>
            <a:rect l="l" t="t" r="r" b="b"/>
            <a:pathLst>
              <a:path w="323850" h="58420">
                <a:moveTo>
                  <a:pt x="323634" y="0"/>
                </a:moveTo>
                <a:lnTo>
                  <a:pt x="0" y="0"/>
                </a:lnTo>
                <a:lnTo>
                  <a:pt x="0" y="58318"/>
                </a:lnTo>
                <a:lnTo>
                  <a:pt x="323634" y="58318"/>
                </a:lnTo>
                <a:lnTo>
                  <a:pt x="32363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6056" y="8486902"/>
            <a:ext cx="6651625" cy="1037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8.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 Conclusion</a:t>
            </a:r>
            <a:endParaRPr sz="1800">
              <a:latin typeface="Times New Roman"/>
              <a:cs typeface="Times New Roman"/>
            </a:endParaRPr>
          </a:p>
          <a:p>
            <a:pPr marL="12700" marR="5080" indent="3175">
              <a:lnSpc>
                <a:spcPct val="99300"/>
              </a:lnSpc>
              <a:spcBef>
                <a:spcPts val="1515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développement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l’application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GStock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architecture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claire,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sécurisée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évolutive. L’utilisation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MySQL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l’architecture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MVC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garantir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fiabilité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en </a:t>
            </a:r>
            <a:r>
              <a:rPr dirty="0" sz="1200" spc="-10">
                <a:latin typeface="Times New Roman"/>
                <a:cs typeface="Times New Roman"/>
              </a:rPr>
              <a:t>facilitant </a:t>
            </a:r>
            <a:r>
              <a:rPr dirty="0" sz="1200">
                <a:latin typeface="Times New Roman"/>
                <a:cs typeface="Times New Roman"/>
              </a:rPr>
              <a:t>son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évolution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future,</a:t>
            </a:r>
            <a:r>
              <a:rPr dirty="0" sz="1200" spc="-10">
                <a:latin typeface="Times New Roman"/>
                <a:cs typeface="Times New Roman"/>
              </a:rPr>
              <a:t> notamment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10">
                <a:latin typeface="Times New Roman"/>
                <a:cs typeface="Times New Roman"/>
              </a:rPr>
              <a:t> l’intégration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0">
                <a:latin typeface="Times New Roman"/>
                <a:cs typeface="Times New Roman"/>
              </a:rPr>
              <a:t> l’intelligence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artificielle.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04914" y="304559"/>
            <a:ext cx="6951980" cy="10084435"/>
            <a:chOff x="304914" y="304559"/>
            <a:chExt cx="6951980" cy="1008443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914" y="304559"/>
              <a:ext cx="6882130" cy="651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914" y="370079"/>
              <a:ext cx="65163" cy="1001844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7044" y="304559"/>
              <a:ext cx="69837" cy="100184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10323361"/>
              <a:ext cx="6882130" cy="651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7044" y="10323361"/>
              <a:ext cx="69837" cy="651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6479" y="6154560"/>
              <a:ext cx="4344835" cy="238464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67804" y="871818"/>
            <a:ext cx="6801484" cy="518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7730" indent="-227329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8877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Gestion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des</a:t>
            </a:r>
            <a:r>
              <a:rPr dirty="0" sz="1800" spc="-6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Fonctionnalités</a:t>
            </a:r>
            <a:r>
              <a:rPr dirty="0" sz="1800" spc="-6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Backend</a:t>
            </a:r>
            <a:endParaRPr sz="18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1520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suivantes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410"/>
              </a:lnSpc>
              <a:spcBef>
                <a:spcPts val="1330"/>
              </a:spcBef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(ajout,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consultation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articles)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28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ventes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Ã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automatique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0">
                <a:latin typeface="Times New Roman"/>
                <a:cs typeface="Times New Roman"/>
              </a:rPr>
              <a:t> stock</a:t>
            </a:r>
            <a:endParaRPr sz="1200">
              <a:latin typeface="Times New Roman"/>
              <a:cs typeface="Times New Roman"/>
            </a:endParaRPr>
          </a:p>
          <a:p>
            <a:pPr lvl="1" marL="887730" indent="-227329">
              <a:lnSpc>
                <a:spcPts val="1310"/>
              </a:lnSpc>
              <a:buSzPct val="79166"/>
              <a:buFont typeface="Segoe UI"/>
              <a:buChar char="•"/>
              <a:tabLst>
                <a:tab pos="887730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fournisseurs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410"/>
              </a:lnSpc>
              <a:spcBef>
                <a:spcPts val="140"/>
              </a:spcBef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utilisateurs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41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>
                <a:latin typeface="Times New Roman"/>
                <a:cs typeface="Times New Roman"/>
              </a:rPr>
              <a:t>Affichage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statistiques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Times New Roman"/>
              <a:cs typeface="Times New Roman"/>
            </a:endParaRPr>
          </a:p>
          <a:p>
            <a:pPr marL="887730" indent="-227329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8877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Connexion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à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la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Base</a:t>
            </a:r>
            <a:r>
              <a:rPr dirty="0" sz="1800" spc="-3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Données</a:t>
            </a:r>
            <a:endParaRPr sz="18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130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Technologie</a:t>
            </a:r>
            <a:r>
              <a:rPr dirty="0" sz="1400" spc="-4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Utilisée</a:t>
            </a:r>
            <a:endParaRPr sz="1400">
              <a:latin typeface="Times New Roman"/>
              <a:cs typeface="Times New Roman"/>
            </a:endParaRPr>
          </a:p>
          <a:p>
            <a:pPr marL="431800" marR="156210">
              <a:lnSpc>
                <a:spcPct val="192500"/>
              </a:lnSpc>
              <a:spcBef>
                <a:spcPts val="140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PDO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communication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MySQL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gestion_stock_dclick</a:t>
            </a:r>
            <a:r>
              <a:rPr dirty="0" sz="1200" spc="-10">
                <a:latin typeface="Times New Roman"/>
                <a:cs typeface="Times New Roman"/>
              </a:rPr>
              <a:t>. </a:t>
            </a:r>
            <a:r>
              <a:rPr dirty="0" sz="1200" b="1">
                <a:latin typeface="Times New Roman"/>
                <a:cs typeface="Times New Roman"/>
              </a:rPr>
              <a:t>Tables</a:t>
            </a:r>
            <a:r>
              <a:rPr dirty="0" sz="1200" spc="26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Principales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410"/>
              </a:lnSpc>
              <a:spcBef>
                <a:spcPts val="1350"/>
              </a:spcBef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 b="1">
                <a:latin typeface="Times New Roman"/>
                <a:cs typeface="Times New Roman"/>
              </a:rPr>
              <a:t>article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:Gestion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produits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stock.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38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 b="1">
                <a:latin typeface="Times New Roman"/>
                <a:cs typeface="Times New Roman"/>
              </a:rPr>
              <a:t>client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10">
                <a:latin typeface="Times New Roman"/>
                <a:cs typeface="Times New Roman"/>
              </a:rPr>
              <a:t> Informations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10">
                <a:latin typeface="Times New Roman"/>
                <a:cs typeface="Times New Roman"/>
              </a:rPr>
              <a:t> clients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38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 b="1">
                <a:latin typeface="Times New Roman"/>
                <a:cs typeface="Times New Roman"/>
              </a:rPr>
              <a:t>fournisseur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:informations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fournisseurs.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38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 b="1">
                <a:latin typeface="Times New Roman"/>
                <a:cs typeface="Times New Roman"/>
              </a:rPr>
              <a:t>vente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10">
                <a:latin typeface="Times New Roman"/>
                <a:cs typeface="Times New Roman"/>
              </a:rPr>
              <a:t> enregistrement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ventes.</a:t>
            </a:r>
            <a:endParaRPr sz="1200">
              <a:latin typeface="Times New Roman"/>
              <a:cs typeface="Times New Roman"/>
            </a:endParaRPr>
          </a:p>
          <a:p>
            <a:pPr lvl="1" marL="888365" indent="-227965">
              <a:lnSpc>
                <a:spcPts val="1410"/>
              </a:lnSpc>
              <a:buSzPct val="79166"/>
              <a:buFont typeface="Segoe UI"/>
              <a:buChar char="•"/>
              <a:tabLst>
                <a:tab pos="888365" algn="l"/>
              </a:tabLst>
            </a:pPr>
            <a:r>
              <a:rPr dirty="0" sz="1200" b="1">
                <a:latin typeface="Times New Roman"/>
                <a:cs typeface="Times New Roman"/>
              </a:rPr>
              <a:t>commande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commandes.</a:t>
            </a:r>
            <a:endParaRPr sz="1200">
              <a:latin typeface="Times New Roman"/>
              <a:cs typeface="Times New Roman"/>
            </a:endParaRPr>
          </a:p>
          <a:p>
            <a:pPr lvl="1" marL="878840" indent="-267970">
              <a:lnSpc>
                <a:spcPct val="100000"/>
              </a:lnSpc>
              <a:spcBef>
                <a:spcPts val="385"/>
              </a:spcBef>
              <a:buSzPct val="79166"/>
              <a:buFont typeface="Segoe UI"/>
              <a:buChar char="•"/>
              <a:tabLst>
                <a:tab pos="878840" algn="l"/>
              </a:tabLst>
            </a:pPr>
            <a:r>
              <a:rPr dirty="0" sz="1200" b="1">
                <a:latin typeface="Times New Roman"/>
                <a:cs typeface="Times New Roman"/>
              </a:rPr>
              <a:t>utilisateur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Authentification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sécurisé.</a:t>
            </a:r>
            <a:endParaRPr sz="1200">
              <a:latin typeface="Times New Roman"/>
              <a:cs typeface="Times New Roman"/>
            </a:endParaRPr>
          </a:p>
          <a:p>
            <a:pPr marL="660400">
              <a:lnSpc>
                <a:spcPts val="2090"/>
              </a:lnSpc>
              <a:spcBef>
                <a:spcPts val="470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7.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Intégration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l’Analyse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Intelligente</a:t>
            </a:r>
            <a:endParaRPr sz="1800">
              <a:latin typeface="Times New Roman"/>
              <a:cs typeface="Times New Roman"/>
            </a:endParaRPr>
          </a:p>
          <a:p>
            <a:pPr marL="25400">
              <a:lnSpc>
                <a:spcPts val="1370"/>
              </a:lnSpc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GStock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intègre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composante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d’analyse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intelligente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basée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l’exploitation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ventes.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714" y="6352566"/>
            <a:ext cx="5713196" cy="27655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86942" y="871818"/>
            <a:ext cx="5744845" cy="5210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Times New Roman"/>
              <a:buAutoNum type="arabicPeriod" startAt="3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Gestion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Code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Source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avec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GitHub</a:t>
            </a:r>
            <a:endParaRPr sz="1800">
              <a:latin typeface="Times New Roman"/>
              <a:cs typeface="Times New Roman"/>
            </a:endParaRPr>
          </a:p>
          <a:p>
            <a:pPr marL="12700" marR="257175">
              <a:lnSpc>
                <a:spcPts val="1380"/>
              </a:lnSpc>
              <a:spcBef>
                <a:spcPts val="1605"/>
              </a:spcBef>
            </a:pPr>
            <a:r>
              <a:rPr dirty="0" sz="1200">
                <a:latin typeface="Times New Roman"/>
                <a:cs typeface="Times New Roman"/>
              </a:rPr>
              <a:t>GitHub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plateforme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collaboration,</a:t>
            </a:r>
            <a:r>
              <a:rPr dirty="0" sz="1200" spc="-25">
                <a:latin typeface="Times New Roman"/>
                <a:cs typeface="Times New Roman"/>
              </a:rPr>
              <a:t> le </a:t>
            </a:r>
            <a:r>
              <a:rPr dirty="0" sz="1200">
                <a:latin typeface="Times New Roman"/>
                <a:cs typeface="Times New Roman"/>
              </a:rPr>
              <a:t>suivi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l’intégration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continue.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Structure</a:t>
            </a:r>
            <a:r>
              <a:rPr dirty="0" sz="1400" spc="-1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des</a:t>
            </a:r>
            <a:r>
              <a:rPr dirty="0" sz="1400" spc="-1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Branches</a:t>
            </a:r>
            <a:endParaRPr sz="14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spcBef>
                <a:spcPts val="1460"/>
              </a:spcBef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main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6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ts val="1380"/>
              </a:lnSpc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Branche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stables.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ts val="1380"/>
              </a:lnSpc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Inclut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uniquement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testées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validées.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test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2" marL="926465" indent="-228600">
              <a:lnSpc>
                <a:spcPts val="1410"/>
              </a:lnSpc>
              <a:buSzPct val="79166"/>
              <a:buFont typeface="Courier New"/>
              <a:buChar char="o"/>
              <a:tabLst>
                <a:tab pos="926465" algn="l"/>
              </a:tabLst>
            </a:pPr>
            <a:r>
              <a:rPr dirty="0" sz="1200">
                <a:latin typeface="Times New Roman"/>
                <a:cs typeface="Times New Roman"/>
              </a:rPr>
              <a:t>Branche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dédiée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fusion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main.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Processus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Développement</a:t>
            </a:r>
            <a:endParaRPr sz="1400">
              <a:latin typeface="Times New Roman"/>
              <a:cs typeface="Times New Roman"/>
            </a:endParaRPr>
          </a:p>
          <a:p>
            <a:pPr marL="469265" marR="5080" indent="-228600">
              <a:lnSpc>
                <a:spcPts val="1380"/>
              </a:lnSpc>
              <a:spcBef>
                <a:spcPts val="155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Création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Branches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Fonctionnelles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Chaque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nouvelle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correction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développée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branche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dédiée.</a:t>
            </a:r>
            <a:endParaRPr sz="1200">
              <a:latin typeface="Times New Roman"/>
              <a:cs typeface="Times New Roman"/>
            </a:endParaRPr>
          </a:p>
          <a:p>
            <a:pPr marL="469265" marR="107950" indent="-228600">
              <a:lnSpc>
                <a:spcPts val="1380"/>
              </a:lnSpc>
              <a:spcBef>
                <a:spcPts val="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Pull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Requests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(PR)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branches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fusionnées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après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validation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via</a:t>
            </a:r>
            <a:r>
              <a:rPr dirty="0" sz="1200" spc="-25">
                <a:latin typeface="Times New Roman"/>
                <a:cs typeface="Times New Roman"/>
              </a:rPr>
              <a:t> des </a:t>
            </a:r>
            <a:r>
              <a:rPr dirty="0" sz="1200">
                <a:latin typeface="Times New Roman"/>
                <a:cs typeface="Times New Roman"/>
              </a:rPr>
              <a:t>pull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requests.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10"/>
              </a:lnSpc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Tags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Versions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importantes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marquées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le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10"/>
              </a:lnSpc>
            </a:pPr>
            <a:r>
              <a:rPr dirty="0" sz="1200" spc="-10">
                <a:latin typeface="Times New Roman"/>
                <a:cs typeface="Times New Roman"/>
              </a:rPr>
              <a:t>déploiement.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Exemples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Dépôt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dépôt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organisé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deux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dossiers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principaux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spcBef>
                <a:spcPts val="1335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back/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front/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HTML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JavaScript.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14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041904" y="9170899"/>
            <a:ext cx="1475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Le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dans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Github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873266"/>
            <a:ext cx="1516380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Intégration</a:t>
            </a:r>
            <a:r>
              <a:rPr dirty="0" sz="1400" spc="-4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GitHub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15542" y="1650505"/>
            <a:ext cx="7683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latin typeface="Segoe UI"/>
                <a:cs typeface="Segoe UI"/>
              </a:rPr>
              <a:t>•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5542" y="1275372"/>
            <a:ext cx="5467985" cy="5588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40665" marR="5080" indent="-228600">
              <a:lnSpc>
                <a:spcPts val="1380"/>
              </a:lnSpc>
              <a:spcBef>
                <a:spcPts val="195"/>
              </a:spcBef>
              <a:buSzPct val="79166"/>
              <a:buFont typeface="Segoe UI"/>
              <a:buChar char="•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Gestion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Versions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GitHub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automatiser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unitaires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vérifier l’intégration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continue.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ts val="1345"/>
              </a:lnSpc>
            </a:pPr>
            <a:r>
              <a:rPr dirty="0" sz="1200" b="1">
                <a:latin typeface="Times New Roman"/>
                <a:cs typeface="Times New Roman"/>
              </a:rPr>
              <a:t>Collaboration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Assignation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suivi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GitHub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Issues.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6942" y="2100136"/>
            <a:ext cx="5704840" cy="431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86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Gestion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des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Tâches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avec</a:t>
            </a:r>
            <a:r>
              <a:rPr dirty="0" sz="1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Trello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614"/>
              </a:spcBef>
            </a:pPr>
            <a:r>
              <a:rPr dirty="0" sz="1200">
                <a:latin typeface="Times New Roman"/>
                <a:cs typeface="Times New Roman"/>
              </a:rPr>
              <a:t>Trello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gérer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offrant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d'ensemble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travaux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à </a:t>
            </a:r>
            <a:r>
              <a:rPr dirty="0" sz="1200" spc="-10">
                <a:latin typeface="Times New Roman"/>
                <a:cs typeface="Times New Roman"/>
              </a:rPr>
              <a:t>réaliser.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Structure</a:t>
            </a:r>
            <a:r>
              <a:rPr dirty="0" sz="1400" spc="-1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du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Tableau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 Trello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tableau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organisé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colonnes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représentant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étapes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développement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spcBef>
                <a:spcPts val="1330"/>
              </a:spcBef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Backlog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Liste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prévues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projet.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To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Do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réaliser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l'itération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actuelle.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In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Progress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cours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développement.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380"/>
              </a:lnSpc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Testing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phase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unitaires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d'intégration.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0"/>
              </a:lnSpc>
              <a:buFont typeface="Times New Roman"/>
              <a:buAutoNum type="arabicPeriod"/>
              <a:tabLst>
                <a:tab pos="469265" algn="l"/>
              </a:tabLst>
            </a:pPr>
            <a:r>
              <a:rPr dirty="0" sz="1200" b="1">
                <a:latin typeface="Times New Roman"/>
                <a:cs typeface="Times New Roman"/>
              </a:rPr>
              <a:t>Done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terminées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validées.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Collaboration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avec</a:t>
            </a:r>
            <a:r>
              <a:rPr dirty="0" sz="1400" spc="-3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Trello</a:t>
            </a:r>
            <a:endParaRPr sz="1400">
              <a:latin typeface="Times New Roman"/>
              <a:cs typeface="Times New Roman"/>
            </a:endParaRPr>
          </a:p>
          <a:p>
            <a:pPr lvl="2" marL="469265" indent="-227965">
              <a:lnSpc>
                <a:spcPts val="1410"/>
              </a:lnSpc>
              <a:spcBef>
                <a:spcPts val="1460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tâches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attribuées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aux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membres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l'équipe.</a:t>
            </a:r>
            <a:endParaRPr sz="1200">
              <a:latin typeface="Times New Roman"/>
              <a:cs typeface="Times New Roman"/>
            </a:endParaRPr>
          </a:p>
          <a:p>
            <a:pPr lvl="2" marL="469265" marR="598805" indent="-228600">
              <a:lnSpc>
                <a:spcPts val="1380"/>
              </a:lnSpc>
              <a:spcBef>
                <a:spcPts val="70"/>
              </a:spcBef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commentaires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utilisés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communiquer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détails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résoudre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les </a:t>
            </a:r>
            <a:r>
              <a:rPr dirty="0" sz="1200" spc="-10">
                <a:latin typeface="Times New Roman"/>
                <a:cs typeface="Times New Roman"/>
              </a:rPr>
              <a:t>problèmes.</a:t>
            </a:r>
            <a:endParaRPr sz="1200">
              <a:latin typeface="Times New Roman"/>
              <a:cs typeface="Times New Roman"/>
            </a:endParaRPr>
          </a:p>
          <a:p>
            <a:pPr lvl="2" marL="469265" indent="-227965">
              <a:lnSpc>
                <a:spcPts val="1340"/>
              </a:lnSpc>
              <a:buSzPct val="79166"/>
              <a:buFont typeface="Segoe UI"/>
              <a:buChar char="•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deadlines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aident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respecter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échéances.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Exemple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de</a:t>
            </a:r>
            <a:r>
              <a:rPr dirty="0" sz="1400" spc="-2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Tâches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5542" y="6602655"/>
            <a:ext cx="7683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-50">
                <a:latin typeface="Segoe UI"/>
                <a:cs typeface="Segoe UI"/>
              </a:rPr>
              <a:t>•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43774" y="6578169"/>
            <a:ext cx="4742180" cy="38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05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Backend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05"/>
              </a:lnSpc>
              <a:buSzPct val="79166"/>
              <a:buFont typeface="Courier New"/>
              <a:buChar char="o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requetes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HTTP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logique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navigation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pages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15542" y="7102336"/>
            <a:ext cx="353504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1410"/>
              </a:lnSpc>
              <a:spcBef>
                <a:spcPts val="100"/>
              </a:spcBef>
              <a:buSzPct val="79166"/>
              <a:buFont typeface="Segoe UI"/>
              <a:buChar char="•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Frontend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1" marL="697865" indent="-228600">
              <a:lnSpc>
                <a:spcPts val="1410"/>
              </a:lnSpc>
              <a:buSzPct val="79166"/>
              <a:buFont typeface="Courier New"/>
              <a:buChar char="o"/>
              <a:tabLst>
                <a:tab pos="697865" algn="l"/>
              </a:tabLst>
            </a:pPr>
            <a:r>
              <a:rPr dirty="0" sz="1200" spc="-10">
                <a:latin typeface="Times New Roman"/>
                <a:cs typeface="Times New Roman"/>
              </a:rPr>
              <a:t>Développement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pages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stock.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2980" y="7928903"/>
            <a:ext cx="6133465" cy="1042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Tests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Unitaires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et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Débogage</a:t>
            </a:r>
            <a:endParaRPr sz="1800">
              <a:latin typeface="Times New Roman"/>
              <a:cs typeface="Times New Roman"/>
            </a:endParaRPr>
          </a:p>
          <a:p>
            <a:pPr marL="12700" marR="5080" indent="3810">
              <a:lnSpc>
                <a:spcPct val="100600"/>
              </a:lnSpc>
              <a:spcBef>
                <a:spcPts val="1500"/>
              </a:spcBef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unitaires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fonctionnels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été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réalisés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manuellement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l’aide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scénarios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test, permettant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vérifier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fonctionnement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notamment l’authentification,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articles,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ventes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6244" y="1577417"/>
            <a:ext cx="5784215" cy="79286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Débogage</a:t>
            </a:r>
            <a:endParaRPr sz="1400">
              <a:latin typeface="Times New Roman"/>
              <a:cs typeface="Times New Roman"/>
            </a:endParaRPr>
          </a:p>
          <a:p>
            <a:pPr marL="520065" indent="-228600">
              <a:lnSpc>
                <a:spcPts val="1410"/>
              </a:lnSpc>
              <a:spcBef>
                <a:spcPts val="147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spc="-10">
                <a:latin typeface="Times New Roman"/>
                <a:cs typeface="Times New Roman"/>
              </a:rPr>
              <a:t>Utilisation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mécanismes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intégrés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erreurs,</a:t>
            </a:r>
            <a:endParaRPr sz="1200">
              <a:latin typeface="Times New Roman"/>
              <a:cs typeface="Times New Roman"/>
            </a:endParaRPr>
          </a:p>
          <a:p>
            <a:pPr marL="520065" indent="-228600">
              <a:lnSpc>
                <a:spcPts val="1410"/>
              </a:lnSpc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latin typeface="Times New Roman"/>
                <a:cs typeface="Times New Roman"/>
              </a:rPr>
              <a:t>Analyse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exceptions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PDO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l’inspection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flux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d’exécution.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2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Chapitre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6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Documentation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62865" marR="43180">
              <a:lnSpc>
                <a:spcPts val="1380"/>
              </a:lnSpc>
              <a:spcBef>
                <a:spcPts val="160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Cette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couvre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étapes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configurer,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exécuter,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tester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gestion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stock,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incluant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outils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nécessaires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l'environnement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requis.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200">
              <a:latin typeface="Times New Roman"/>
              <a:cs typeface="Times New Roman"/>
            </a:endParaRPr>
          </a:p>
          <a:p>
            <a:pPr marL="518795" indent="-227329">
              <a:lnSpc>
                <a:spcPct val="100000"/>
              </a:lnSpc>
              <a:buAutoNum type="arabicPeriod"/>
              <a:tabLst>
                <a:tab pos="518795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100965" marR="875030" indent="-38100">
              <a:lnSpc>
                <a:spcPts val="1380"/>
              </a:lnSpc>
              <a:spcBef>
                <a:spcPts val="160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projet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vise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gérer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stock.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chapitre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détaille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configurations,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outils,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étapes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nécessaires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backend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frontend.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Times New Roman"/>
              <a:cs typeface="Times New Roman"/>
            </a:endParaRPr>
          </a:p>
          <a:p>
            <a:pPr marL="518795" indent="-227329">
              <a:lnSpc>
                <a:spcPct val="100000"/>
              </a:lnSpc>
              <a:buAutoNum type="arabicPeriod" startAt="2"/>
              <a:tabLst>
                <a:tab pos="518795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Objectif</a:t>
            </a:r>
            <a:r>
              <a:rPr dirty="0" sz="1800" spc="-5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4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62865" marR="53975">
              <a:lnSpc>
                <a:spcPts val="1380"/>
              </a:lnSpc>
              <a:spcBef>
                <a:spcPts val="160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Développer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application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permettant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articles,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clients,des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commandes</a:t>
            </a:r>
            <a:r>
              <a:rPr dirty="0" sz="1200" spc="5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fournisseurs,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ventes,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utilisateurs,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backend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frontend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HTML.</a:t>
            </a:r>
            <a:endParaRPr sz="1200">
              <a:latin typeface="Times New Roman"/>
              <a:cs typeface="Times New Roman"/>
            </a:endParaRPr>
          </a:p>
          <a:p>
            <a:pPr marL="506730" indent="-227329">
              <a:lnSpc>
                <a:spcPct val="100000"/>
              </a:lnSpc>
              <a:spcBef>
                <a:spcPts val="1145"/>
              </a:spcBef>
              <a:buAutoNum type="arabicPeriod" startAt="3"/>
              <a:tabLst>
                <a:tab pos="506730" algn="l"/>
              </a:tabLst>
            </a:pP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Prérequis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05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Environnement</a:t>
            </a:r>
            <a:r>
              <a:rPr dirty="0" sz="1400" spc="-4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00">
              <a:latin typeface="Times New Roman"/>
              <a:cs typeface="Times New Roman"/>
            </a:endParaRPr>
          </a:p>
          <a:p>
            <a:pPr lvl="1" marL="532765" indent="-228600">
              <a:lnSpc>
                <a:spcPct val="100000"/>
              </a:lnSpc>
              <a:buSzPct val="79166"/>
              <a:buFont typeface="Segoe UI"/>
              <a:buChar char="•"/>
              <a:tabLst>
                <a:tab pos="5327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Système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d’exploitation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Windows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/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Linux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/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macOS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52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Serveur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Apache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(XAMPP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WAMP)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90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Langage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backend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8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supérieur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68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MySQL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70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Navigateur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Google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Chrome,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Firefox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équivalent</a:t>
            </a:r>
            <a:endParaRPr sz="12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  <a:spcBef>
                <a:spcPts val="72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Outils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39520">
              <a:lnSpc>
                <a:spcPts val="1360"/>
              </a:lnSpc>
              <a:spcBef>
                <a:spcPts val="190"/>
              </a:spcBef>
            </a:pP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ts val="1360"/>
              </a:lnSpc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IDE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Visual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Studio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tout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autre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éditeur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phpMyAdmin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Gestion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données.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73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Navigateur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Test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affichage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l’application</a:t>
            </a:r>
            <a:endParaRPr sz="1200">
              <a:latin typeface="Times New Roman"/>
              <a:cs typeface="Times New Roman"/>
            </a:endParaRPr>
          </a:p>
          <a:p>
            <a:pPr lvl="1" marL="520065" indent="-228600">
              <a:lnSpc>
                <a:spcPct val="100000"/>
              </a:lnSpc>
              <a:spcBef>
                <a:spcPts val="68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XAMPP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/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WAMP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: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Environnement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 de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développement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local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47280" y="8443443"/>
            <a:ext cx="57785" cy="176530"/>
          </a:xfrm>
          <a:custGeom>
            <a:avLst/>
            <a:gdLst/>
            <a:ahLst/>
            <a:cxnLst/>
            <a:rect l="l" t="t" r="r" b="b"/>
            <a:pathLst>
              <a:path w="57784" h="176529">
                <a:moveTo>
                  <a:pt x="57238" y="0"/>
                </a:moveTo>
                <a:lnTo>
                  <a:pt x="0" y="0"/>
                </a:lnTo>
                <a:lnTo>
                  <a:pt x="0" y="176034"/>
                </a:lnTo>
                <a:lnTo>
                  <a:pt x="57238" y="176034"/>
                </a:lnTo>
                <a:lnTo>
                  <a:pt x="57238" y="0"/>
                </a:lnTo>
                <a:close/>
              </a:path>
            </a:pathLst>
          </a:custGeom>
          <a:solidFill>
            <a:srgbClr val="005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23379" y="5301971"/>
            <a:ext cx="2604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Configuration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de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la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Base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de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40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1800" spc="-75" b="1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baseline="13888"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85444" y="5518443"/>
            <a:ext cx="57785" cy="351155"/>
          </a:xfrm>
          <a:custGeom>
            <a:avLst/>
            <a:gdLst/>
            <a:ahLst/>
            <a:cxnLst/>
            <a:rect l="l" t="t" r="r" b="b"/>
            <a:pathLst>
              <a:path w="57784" h="351154">
                <a:moveTo>
                  <a:pt x="57238" y="0"/>
                </a:moveTo>
                <a:lnTo>
                  <a:pt x="0" y="0"/>
                </a:lnTo>
                <a:lnTo>
                  <a:pt x="0" y="175323"/>
                </a:lnTo>
                <a:lnTo>
                  <a:pt x="0" y="175679"/>
                </a:lnTo>
                <a:lnTo>
                  <a:pt x="0" y="351002"/>
                </a:lnTo>
                <a:lnTo>
                  <a:pt x="57238" y="351002"/>
                </a:lnTo>
                <a:lnTo>
                  <a:pt x="57238" y="175679"/>
                </a:lnTo>
                <a:lnTo>
                  <a:pt x="57238" y="175323"/>
                </a:lnTo>
                <a:lnTo>
                  <a:pt x="57238" y="0"/>
                </a:lnTo>
                <a:close/>
              </a:path>
            </a:pathLst>
          </a:custGeom>
          <a:solidFill>
            <a:srgbClr val="005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42759" y="5518443"/>
            <a:ext cx="5798820" cy="351155"/>
          </a:xfrm>
          <a:prstGeom prst="rect">
            <a:avLst/>
          </a:prstGeom>
          <a:solidFill>
            <a:srgbClr val="F8F8F8"/>
          </a:solidFill>
        </p:spPr>
        <p:txBody>
          <a:bodyPr wrap="square" lIns="0" tIns="65404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51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CREATE</a:t>
            </a:r>
            <a:r>
              <a:rPr dirty="0" sz="1200" spc="-5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DATABASE</a:t>
            </a:r>
            <a:r>
              <a:rPr dirty="0" sz="1200" spc="-6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gestion_stock_dclick;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6942" y="6021617"/>
            <a:ext cx="401066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7879" algn="l"/>
              </a:tabLst>
            </a:pP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Configuration</a:t>
            </a:r>
            <a:r>
              <a:rPr dirty="0" sz="1200" spc="1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du</a:t>
            </a:r>
            <a:r>
              <a:rPr dirty="0" sz="1200" spc="1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Backend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	</a:t>
            </a:r>
            <a:r>
              <a:rPr dirty="0" sz="1200" spc="-50" b="1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connexion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données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configurée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fichier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85444" y="6690602"/>
            <a:ext cx="57785" cy="176530"/>
          </a:xfrm>
          <a:custGeom>
            <a:avLst/>
            <a:gdLst/>
            <a:ahLst/>
            <a:cxnLst/>
            <a:rect l="l" t="t" r="r" b="b"/>
            <a:pathLst>
              <a:path w="57784" h="176529">
                <a:moveTo>
                  <a:pt x="57238" y="0"/>
                </a:moveTo>
                <a:lnTo>
                  <a:pt x="0" y="0"/>
                </a:lnTo>
                <a:lnTo>
                  <a:pt x="0" y="176034"/>
                </a:lnTo>
                <a:lnTo>
                  <a:pt x="57238" y="176034"/>
                </a:lnTo>
                <a:lnTo>
                  <a:pt x="57238" y="0"/>
                </a:lnTo>
                <a:close/>
              </a:path>
            </a:pathLst>
          </a:custGeom>
          <a:solidFill>
            <a:srgbClr val="0055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42759" y="6690602"/>
            <a:ext cx="5798820" cy="176530"/>
          </a:xfrm>
          <a:prstGeom prst="rect">
            <a:avLst/>
          </a:prstGeom>
          <a:solidFill>
            <a:srgbClr val="F8F8F8"/>
          </a:solidFill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1355"/>
              </a:lnSpc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config/database.php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17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36142" y="873266"/>
            <a:ext cx="5868035" cy="3844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9430" indent="-227329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5194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Structure</a:t>
            </a:r>
            <a:r>
              <a:rPr dirty="0" sz="1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du</a:t>
            </a:r>
            <a:r>
              <a:rPr dirty="0" sz="1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Projet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9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Backend</a:t>
            </a:r>
            <a:r>
              <a:rPr dirty="0" sz="1400" spc="-25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519430" indent="-227329">
              <a:lnSpc>
                <a:spcPct val="100000"/>
              </a:lnSpc>
              <a:spcBef>
                <a:spcPts val="1165"/>
              </a:spcBef>
              <a:buSzPct val="79166"/>
              <a:buFont typeface="Segoe UI"/>
              <a:buChar char="•"/>
              <a:tabLst>
                <a:tab pos="519430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Controllers</a:t>
            </a:r>
            <a:r>
              <a:rPr dirty="0" sz="1200" spc="-3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Gèrent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requêtes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HTTP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logique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navigation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entre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pages.</a:t>
            </a:r>
            <a:endParaRPr sz="1200">
              <a:latin typeface="Times New Roman"/>
              <a:cs typeface="Times New Roman"/>
            </a:endParaRPr>
          </a:p>
          <a:p>
            <a:pPr lvl="1" marL="520065" indent="-227965">
              <a:lnSpc>
                <a:spcPct val="100000"/>
              </a:lnSpc>
              <a:spcBef>
                <a:spcPts val="98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Models</a:t>
            </a:r>
            <a:r>
              <a:rPr dirty="0" sz="1200" spc="-3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Contiennent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logique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d’accès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opérations</a:t>
            </a:r>
            <a:r>
              <a:rPr dirty="0" sz="1200" spc="-3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CRUD.</a:t>
            </a:r>
            <a:endParaRPr sz="1200">
              <a:latin typeface="Times New Roman"/>
              <a:cs typeface="Times New Roman"/>
            </a:endParaRPr>
          </a:p>
          <a:p>
            <a:pPr lvl="1" marL="520065" indent="-227965">
              <a:lnSpc>
                <a:spcPct val="100000"/>
              </a:lnSpc>
              <a:spcBef>
                <a:spcPts val="69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spc="-10" b="1">
                <a:solidFill>
                  <a:srgbClr val="333333"/>
                </a:solidFill>
                <a:latin typeface="Times New Roman"/>
                <a:cs typeface="Times New Roman"/>
              </a:rPr>
              <a:t>Configuration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Centralise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connexion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à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la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données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via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PDO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720"/>
              </a:spcBef>
            </a:pPr>
            <a:r>
              <a:rPr dirty="0" sz="1400" b="1">
                <a:solidFill>
                  <a:srgbClr val="006FBF"/>
                </a:solidFill>
                <a:latin typeface="Times New Roman"/>
                <a:cs typeface="Times New Roman"/>
              </a:rPr>
              <a:t>Frontend</a:t>
            </a:r>
            <a:r>
              <a:rPr dirty="0" sz="1400" spc="-10" b="1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520065" indent="-227965">
              <a:lnSpc>
                <a:spcPct val="100000"/>
              </a:lnSpc>
              <a:spcBef>
                <a:spcPts val="1475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Views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utilisateur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HTML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 lvl="1" marL="520065" indent="-227965">
              <a:lnSpc>
                <a:spcPct val="100000"/>
              </a:lnSpc>
              <a:spcBef>
                <a:spcPts val="700"/>
              </a:spcBef>
              <a:buSzPct val="79166"/>
              <a:buFont typeface="Segoe UI"/>
              <a:buChar char="•"/>
              <a:tabLst>
                <a:tab pos="520065" algn="l"/>
              </a:tabLst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Styles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20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Mise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forme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réalisée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avec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CSS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intégration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d’icônes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via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Boxicons.</a:t>
            </a:r>
            <a:endParaRPr sz="1200">
              <a:latin typeface="Times New Roman"/>
              <a:cs typeface="Times New Roman"/>
            </a:endParaRPr>
          </a:p>
          <a:p>
            <a:pPr marL="507365">
              <a:lnSpc>
                <a:spcPct val="100000"/>
              </a:lnSpc>
              <a:spcBef>
                <a:spcPts val="565"/>
              </a:spcBef>
            </a:pP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Scripts</a:t>
            </a:r>
            <a:r>
              <a:rPr dirty="0" sz="1200" spc="-2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333333"/>
                </a:solidFill>
                <a:latin typeface="Times New Roman"/>
                <a:cs typeface="Times New Roman"/>
              </a:rPr>
              <a:t>:</a:t>
            </a:r>
            <a:r>
              <a:rPr dirty="0" sz="1200" spc="-15" b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JavaScript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utilisé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pour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améliorer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l’interactivité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de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l’interface..</a:t>
            </a:r>
            <a:endParaRPr sz="1200">
              <a:latin typeface="Times New Roman"/>
              <a:cs typeface="Times New Roman"/>
            </a:endParaRPr>
          </a:p>
          <a:p>
            <a:pPr marL="519430" indent="-227329">
              <a:lnSpc>
                <a:spcPts val="2075"/>
              </a:lnSpc>
              <a:spcBef>
                <a:spcPts val="305"/>
              </a:spcBef>
              <a:buAutoNum type="arabicPeriod" startAt="5"/>
              <a:tabLst>
                <a:tab pos="519430" algn="l"/>
              </a:tabLst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Installation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et</a:t>
            </a:r>
            <a:r>
              <a:rPr dirty="0" sz="1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Configuration</a:t>
            </a:r>
            <a:endParaRPr sz="1800">
              <a:latin typeface="Times New Roman"/>
              <a:cs typeface="Times New Roman"/>
            </a:endParaRPr>
          </a:p>
          <a:p>
            <a:pPr marL="50165">
              <a:lnSpc>
                <a:spcPts val="1355"/>
              </a:lnSpc>
            </a:pPr>
            <a:r>
              <a:rPr dirty="0" sz="1200" spc="-20" b="1">
                <a:solidFill>
                  <a:srgbClr val="001F5F"/>
                </a:solidFill>
                <a:latin typeface="Times New Roman"/>
                <a:cs typeface="Times New Roman"/>
              </a:rPr>
              <a:t>Pré-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requis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lvl="1" marL="963930" indent="-227965">
              <a:lnSpc>
                <a:spcPct val="100000"/>
              </a:lnSpc>
              <a:spcBef>
                <a:spcPts val="1010"/>
              </a:spcBef>
              <a:buSzPct val="79166"/>
              <a:buFont typeface="Courier New"/>
              <a:buChar char="o"/>
              <a:tabLst>
                <a:tab pos="963930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Serveur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Apache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(XAMPP</a:t>
            </a:r>
            <a:r>
              <a:rPr dirty="0" sz="1200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lvl="1" marL="963930" indent="-227965">
              <a:lnSpc>
                <a:spcPct val="100000"/>
              </a:lnSpc>
              <a:spcBef>
                <a:spcPts val="690"/>
              </a:spcBef>
              <a:buSzPct val="79166"/>
              <a:buFont typeface="Courier New"/>
              <a:buChar char="o"/>
              <a:tabLst>
                <a:tab pos="963930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PHP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8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ou</a:t>
            </a:r>
            <a:r>
              <a:rPr dirty="0" sz="1200" spc="-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supérieur.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75777" y="5106493"/>
            <a:ext cx="1030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Navigateur</a:t>
            </a:r>
            <a:r>
              <a:rPr dirty="0" sz="1200" spc="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web.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48980" y="4709455"/>
            <a:ext cx="852169" cy="54483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900"/>
              </a:spcBef>
              <a:buSzPct val="79166"/>
              <a:buFont typeface="Courier New"/>
              <a:buChar char="o"/>
              <a:tabLst>
                <a:tab pos="264160" algn="l"/>
              </a:tabLst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MySQL</a:t>
            </a:r>
            <a:r>
              <a:rPr dirty="0" sz="1200" spc="-4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700"/>
              </a:spcBef>
            </a:pPr>
            <a:r>
              <a:rPr dirty="0" sz="950" spc="-50">
                <a:solidFill>
                  <a:srgbClr val="333333"/>
                </a:solidFill>
                <a:latin typeface="Courier New"/>
                <a:cs typeface="Courier New"/>
              </a:rPr>
              <a:t>o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3937" y="8916023"/>
            <a:ext cx="5652135" cy="850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EF"/>
                </a:solidFill>
                <a:latin typeface="Times New Roman"/>
                <a:cs typeface="Times New Roman"/>
              </a:rPr>
              <a:t>6.</a:t>
            </a:r>
            <a:r>
              <a:rPr dirty="0" sz="1800" spc="-10">
                <a:solidFill>
                  <a:srgbClr val="00AFEF"/>
                </a:solidFill>
                <a:latin typeface="Times New Roman"/>
                <a:cs typeface="Times New Roman"/>
              </a:rPr>
              <a:t> Conclusion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605"/>
              </a:spcBef>
            </a:pP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claire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permet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configuration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facile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et</a:t>
            </a:r>
            <a:r>
              <a:rPr dirty="0" sz="1200" spc="-1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une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collaboration</a:t>
            </a:r>
            <a:r>
              <a:rPr dirty="0" sz="1200" spc="-2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efficace</a:t>
            </a:r>
            <a:r>
              <a:rPr dirty="0" sz="1200" spc="-2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entre </a:t>
            </a:r>
            <a:r>
              <a:rPr dirty="0" sz="1200">
                <a:solidFill>
                  <a:srgbClr val="333333"/>
                </a:solidFill>
                <a:latin typeface="Times New Roman"/>
                <a:cs typeface="Times New Roman"/>
              </a:rPr>
              <a:t>les</a:t>
            </a:r>
            <a:r>
              <a:rPr dirty="0" sz="1200" spc="-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</a:rPr>
              <a:t>développeurs.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1745" y="7054457"/>
            <a:ext cx="2578735" cy="1218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Lancement</a:t>
            </a:r>
            <a:r>
              <a:rPr dirty="0" sz="1200" spc="-4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01F5F"/>
                </a:solidFill>
                <a:latin typeface="Times New Roman"/>
                <a:cs typeface="Times New Roman"/>
              </a:rPr>
              <a:t>de</a:t>
            </a:r>
            <a:r>
              <a:rPr dirty="0" sz="1200" spc="-4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Times New Roman"/>
                <a:cs typeface="Times New Roman"/>
              </a:rPr>
              <a:t>l’Application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Démarrer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Apache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MySQL</a:t>
            </a:r>
            <a:endParaRPr sz="12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919"/>
              </a:spcBef>
            </a:pPr>
            <a:r>
              <a:rPr dirty="0" sz="1200">
                <a:latin typeface="Times New Roman"/>
                <a:cs typeface="Times New Roman"/>
              </a:rPr>
              <a:t>Placer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dossier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htdocs</a:t>
            </a:r>
            <a:endParaRPr sz="12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1260"/>
              </a:spcBef>
            </a:pPr>
            <a:r>
              <a:rPr dirty="0" sz="1200">
                <a:latin typeface="Times New Roman"/>
                <a:cs typeface="Times New Roman"/>
              </a:rPr>
              <a:t>Accéder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l’application </a:t>
            </a:r>
            <a:r>
              <a:rPr dirty="0" sz="1200">
                <a:latin typeface="Times New Roman"/>
                <a:cs typeface="Times New Roman"/>
              </a:rPr>
              <a:t>via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10">
                <a:latin typeface="Times New Roman"/>
                <a:cs typeface="Times New Roman"/>
              </a:rPr>
              <a:t> navigateur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04595" y="8443443"/>
            <a:ext cx="5798820" cy="176530"/>
          </a:xfrm>
          <a:prstGeom prst="rect">
            <a:avLst/>
          </a:prstGeom>
          <a:solidFill>
            <a:srgbClr val="F8F8F8"/>
          </a:solidFill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1355"/>
              </a:lnSpc>
            </a:pPr>
            <a:r>
              <a:rPr dirty="0" sz="1200" spc="-10">
                <a:solidFill>
                  <a:srgbClr val="333333"/>
                </a:solidFill>
                <a:latin typeface="Times New Roman"/>
                <a:cs typeface="Times New Roman"/>
                <a:hlinkClick r:id="rId2"/>
              </a:rPr>
              <a:t>http://localhost/GSTOCK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6942" y="871818"/>
            <a:ext cx="5918200" cy="506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  <a:r>
              <a:rPr dirty="0" sz="1800" spc="-7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imes New Roman"/>
                <a:cs typeface="Times New Roman"/>
              </a:rPr>
              <a:t>Générale</a:t>
            </a:r>
            <a:endParaRPr sz="1800">
              <a:latin typeface="Times New Roman"/>
              <a:cs typeface="Times New Roman"/>
            </a:endParaRPr>
          </a:p>
          <a:p>
            <a:pPr marL="12700" marR="31115">
              <a:lnSpc>
                <a:spcPct val="95800"/>
              </a:lnSpc>
              <a:spcBef>
                <a:spcPts val="1570"/>
              </a:spcBef>
            </a:pP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stock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concevoir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développer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robuste, sécurisée,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évolutive,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répondant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aux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besoins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utilisateurs,qu'ils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administrateurs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employé.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adoptant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technologies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2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HTML </a:t>
            </a:r>
            <a:r>
              <a:rPr dirty="0" sz="1200" spc="-10">
                <a:latin typeface="Times New Roman"/>
                <a:cs typeface="Times New Roman"/>
              </a:rPr>
              <a:t>JavaScript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œuvre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architecture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claire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modulaire</a:t>
            </a:r>
            <a:endParaRPr sz="1200">
              <a:latin typeface="Times New Roman"/>
              <a:cs typeface="Times New Roman"/>
            </a:endParaRPr>
          </a:p>
          <a:p>
            <a:pPr marL="50165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basée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modèle </a:t>
            </a:r>
            <a:r>
              <a:rPr dirty="0" sz="1200" b="1">
                <a:latin typeface="Times New Roman"/>
                <a:cs typeface="Times New Roman"/>
              </a:rPr>
              <a:t>MVC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Cette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approche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garantit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maintenabilité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scalabilité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système.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50165" marR="325120" indent="-3810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développées,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articles,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clients,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commandes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fournisseurs,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offrent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expérience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utilisateur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fluide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intuitive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grâce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5">
                <a:latin typeface="Times New Roman"/>
                <a:cs typeface="Times New Roman"/>
              </a:rPr>
              <a:t> des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dirty="0" sz="1200">
                <a:latin typeface="Times New Roman"/>
                <a:cs typeface="Times New Roman"/>
              </a:rPr>
              <a:t>outils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conception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 </a:t>
            </a:r>
            <a:r>
              <a:rPr dirty="0" sz="1200" b="1">
                <a:latin typeface="Times New Roman"/>
                <a:cs typeface="Times New Roman"/>
              </a:rPr>
              <a:t>CSS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plus,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l'intégration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d'outils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pour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10">
                <a:latin typeface="Times New Roman"/>
                <a:cs typeface="Times New Roman"/>
              </a:rPr>
              <a:t>renforce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10">
                <a:latin typeface="Times New Roman"/>
                <a:cs typeface="Times New Roman"/>
              </a:rPr>
              <a:t> capacités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0">
                <a:latin typeface="Times New Roman"/>
                <a:cs typeface="Times New Roman"/>
              </a:rPr>
              <a:t> l'application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10">
                <a:latin typeface="Times New Roman"/>
                <a:cs typeface="Times New Roman"/>
              </a:rPr>
              <a:t> simplifiant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10">
                <a:latin typeface="Times New Roman"/>
                <a:cs typeface="Times New Roman"/>
              </a:rPr>
              <a:t> ressources.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dirty="0" sz="1200" spc="-10">
                <a:latin typeface="Times New Roman"/>
                <a:cs typeface="Times New Roman"/>
              </a:rPr>
              <a:t>L'utilisation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d'outils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suivi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GitHub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Trello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combinée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rigoureux</a:t>
            </a:r>
            <a:endParaRPr sz="1200">
              <a:latin typeface="Times New Roman"/>
              <a:cs typeface="Times New Roman"/>
            </a:endParaRPr>
          </a:p>
          <a:p>
            <a:pPr marL="50165" marR="773430" indent="-38100">
              <a:lnSpc>
                <a:spcPts val="1380"/>
              </a:lnSpc>
              <a:spcBef>
                <a:spcPts val="65"/>
              </a:spcBef>
            </a:pP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garantit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qualité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fiabilité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fonctionnalités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livrées.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documentation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claire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détaillée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fournit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collaboration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amélioration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système.</a:t>
            </a:r>
            <a:endParaRPr sz="1200">
              <a:latin typeface="Times New Roman"/>
              <a:cs typeface="Times New Roman"/>
            </a:endParaRPr>
          </a:p>
          <a:p>
            <a:pPr marL="12700" marR="299720">
              <a:lnSpc>
                <a:spcPct val="95800"/>
              </a:lnSpc>
              <a:spcBef>
                <a:spcPts val="1370"/>
              </a:spcBef>
            </a:pP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somme,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représente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étape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significative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l'application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pratique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des </a:t>
            </a:r>
            <a:r>
              <a:rPr dirty="0" sz="1200" spc="-10">
                <a:latin typeface="Times New Roman"/>
                <a:cs typeface="Times New Roman"/>
              </a:rPr>
              <a:t>connaissances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techniques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acquises,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répondant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besoin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réel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efficace</a:t>
            </a:r>
            <a:r>
              <a:rPr dirty="0" sz="1200" spc="-25">
                <a:latin typeface="Times New Roman"/>
                <a:cs typeface="Times New Roman"/>
              </a:rPr>
              <a:t> de </a:t>
            </a:r>
            <a:r>
              <a:rPr dirty="0" sz="1200">
                <a:latin typeface="Times New Roman"/>
                <a:cs typeface="Times New Roman"/>
              </a:rPr>
              <a:t>stock.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succès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fruit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d'un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effort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collectif,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l'accompagnement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constant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 </a:t>
            </a:r>
            <a:r>
              <a:rPr dirty="0" sz="1200" spc="-10">
                <a:latin typeface="Times New Roman"/>
                <a:cs typeface="Times New Roman"/>
              </a:rPr>
              <a:t>l'encadrant,</a:t>
            </a:r>
            <a:r>
              <a:rPr dirty="0" sz="1200">
                <a:latin typeface="Times New Roman"/>
                <a:cs typeface="Times New Roman"/>
              </a:rPr>
              <a:t> et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d'une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méthodologie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développement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agile.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33375">
              <a:lnSpc>
                <a:spcPct val="96000"/>
              </a:lnSpc>
            </a:pPr>
            <a:r>
              <a:rPr dirty="0" sz="1200">
                <a:latin typeface="Times New Roman"/>
                <a:cs typeface="Times New Roman"/>
              </a:rPr>
              <a:t>Avec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cette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l'application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peut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être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facilement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étendue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nouvelles fonctionnalités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s'adapter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d'autres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contextes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gestion.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Elle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constitue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ainsi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solution complète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prête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relever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défis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actuels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futurs.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2026-02-08T22:51:09Z</dcterms:created>
  <dcterms:modified xsi:type="dcterms:W3CDTF">2026-02-08T22:51:09Z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2026-02-08T00:00:00Z</vt:filetime>
  </property>
  <property fmtid="{D5CDD505-2E9C-101B-9397-08002B2CF9AE}" pid="3" name="Creator">
    <vt:lpwstr>Draw</vt:lpwstr>
  </property>
  <property fmtid="{D5CDD505-2E9C-101B-9397-08002B2CF9AE}" pid="4" name="Producer">
    <vt:lpwstr>LibreOffice 25.8.4.2 (X86_64)</vt:lpwstr>
  </property>
  <property fmtid="{D5CDD505-2E9C-101B-9397-08002B2CF9AE}" pid="5" name="LastSaved">
    <vt:filetime>2026-02-08T00:00:00Z</vt:filetime>
  </property>
</Properties>
</file>